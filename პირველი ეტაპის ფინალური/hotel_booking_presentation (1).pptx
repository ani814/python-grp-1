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wtgHQJ4G8ya4bdOlsXiUgkfRl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მოგესალმებით. დღეს წარმოგიდგენთ ჩემს ფინალურ პროექტს — სასტუმროს დაჯავშნის სააგენტოს. ეს არის სრული სისტემა, რომელიც აერთიანებს Python-ზე დაწერილ ობიექტზე ორიენტირებულ Back-End-ს და HTML/CSS Front-End-ს. — ჯერ განვიხილავთ პრობლემას და არქიტექტურას, შემდეგ თითოეულ კლასს დეტალურად, ლოგიკას, ტესტირებას, ბოლოს კი — Front-End-სა და მიღებულ გამოცდილებას.</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დღევანდელი გეგმა ასეთია: ჯერ ავხსნი, რა პრობლემას ვხსნი და რატომ, შემდეგ პროექტის ზოგად მიმოხილვას მოგცემთ. მერე გადავალთ არქიტექტურაზე — ჯერ ზოგადად, შემდეგ სამივე კლასს ცალ-ცალკე დეტალურად განვიხილავთ, კოდის მაგალითებთან ერთად. შემდეგ ვისაუბრებთ ფასწარმოქმნის ლოგიკაზე, დაჯავშნის პროცესზე, ვალიდაციაზე, ჯილდოს სისტემასა და ლოგირებაზე. ბოლოს — ტესტირება, Front-End დემო, ტექნოლოგიები, გამოწვევები რომლებსაც წავაწყდი, და დასკვნა კითხვებით.</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პროექტის იდეა მოდის რეალური პრობლემიდან — სასტუმროებს სჭირდებათ ავტომატიზებული სისტემა ოთახების, ფასების და მომხმარებლების სამართავად, ხელით ცხრილების ნაცვლად. ჩემი მიზანი იყო ოთხი რამის მიღწევა: ერთიანი სისტემა სამივე რესურსისთვის, ბიზნეს ლოგიკის სისწორის დადასტურება ტესტებით, სრული გამჭვირვალობა ლოგირების საშუალებით, და საბოლოოდ — გამოსადეგი ინტერფეისი, რომელიც ამ ლოგიკას ვიზუალურად წარმოადგენს.</a:t>
            </a:r>
            <a:endParaRPr/>
          </a:p>
        </p:txBody>
      </p:sp>
      <p:sp>
        <p:nvSpPr>
          <p:cNvPr id="94" name="Google Shape;9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ოთხი ძირითადი ბლოკია: ოთახების მართვა, დინამიური ფასწარმოქმნა სეზონის მიხედვით, გადახდა და ბალანსის კონტროლი, და ყველა მოქმედების ლოგირება ფაილში — რაც სისტემას აუდიტის შესაძლებლობასაც აძლევს. თითოეულ ამ ბლოკზე უფრო დეტალურად ვისაუბრებ მომდევნო სლაიდებზე.</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არქიტექტურა აგებულია სამ კლასზე, თითოეული საკუთარი პასუხისმგებლობით — ეს არის ე.წ. Single Responsibility პრინციპი. Room ინახავს ოთახის მონაცემებს, Customer წარმოადგენს მომხმარებელს, Hotel კი 'ორკესტრატორია', რომელიც აკავშირებს ორივეს. მომდევნო სამ სლაიდზე თითოეულ კლასს ცალკე, კოდის მაგალითებთან ერთად განვიხილავ.</a:t>
            </a:r>
            <a:endParaRPr/>
          </a:p>
        </p:txBody>
      </p:sp>
      <p:sp>
        <p:nvSpPr>
          <p:cNvPr id="144" name="Google Shape;14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Room კლასი წარმოადგენს ერთ ოთახს. მისი ერთადერთი პასუხისმგებლობაა საკუთარი მდგომარეობის მართვა — ხელმისაწვდომობა და ფასი. calculate_price() მეთოდი ითვალისწინებს ღამეების რაოდენობასა და მიმდინარე სეზონს, და აგდებს ValueError-ს, თუ ღამეების რაოდენობა არადადებითია — ეს არის დამცავი პროგრამირების მაგალითი. მნიშვნელოვანია, რომ ეს კლასი არაფერს არ იცის Customer-ზე ან Hotel-ზე — ეს ინახავს კოდს სუფთად და ადვილად სატესტოდ.</a:t>
            </a:r>
            <a:endParaRPr/>
          </a:p>
        </p:txBody>
      </p:sp>
      <p:sp>
        <p:nvSpPr>
          <p:cNvPr id="179" name="Google Shape;1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Customer კლასი წარმოადგენს მომხმარებელს — ბიუჯეტს, დაჯავშნილ ოთახებს და ლოიალობის ქულებს. pay_for_booking() მეთოდი ორმაგად ამოწმებს — ჯერ, რომ ფასი დადებითია, მერე, რომ ბიუჯეტი საკმარისია — და მხოლოდ მაშინ აკლებს თანხას და ურიცხავს ქულებს. ეს bool დაბრუნება საშუალებას აძლევს Hotel-ს, მარტივად გადაწყვიტოს, გააგრძელოს თუ არა დაჯავშნის პროცესი.</a:t>
            </a:r>
            <a:endParaRPr/>
          </a:p>
        </p:txBody>
      </p:sp>
      <p:sp>
        <p:nvSpPr>
          <p:cNvPr id="200" name="Google Shape;20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Hotel კლასი არის სისტემის 'ტვინი' — book_room_for_customer() მეთოდი კარგად აჩვენებს ამას. ჯერ ამოწმებს, რომ ოთახი არსებობს და თავისუფალია, მერე ითვლის ფასს, მერე ცდილობს გადახდას, და მხოლოდ ყველა ამ ნაბიჯის წარმატების შემდეგ აკავებს ოთახს და ამატებს მას მომხმარებლის სიაში. ეს 'early return' სტილი გვიცავს ისეთი მდგომარეობებისგან, სადაც ოთახი დაკავებულია, მაგრამ გადახდა არ შესრულებულა.</a:t>
            </a:r>
            <a:endParaRPr/>
          </a:p>
        </p:txBody>
      </p:sp>
      <p:sp>
        <p:nvSpPr>
          <p:cNvPr id="221" name="Google Shape;22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ფასწარმოქმნა დინამიურია — არა ფიქსირებული. Room.calculate_price() მრავლდება ღამის ფასს ღამეების რაოდენობაზე და სეზონურ კოეფიციენტზე. მაგალითად, Double ოთახი 130 ლარიანი, 4 ღამით, ივლისში — მაღალ სეზონში — გვაძლევს 780 ლარს. ეს მიდგომა ადვილად გაფართოვდება — მომავალში შეიძლება დაემატოს დღეების ან შაბათ-კვირის ფასდაკლებაც.</a:t>
            </a:r>
            <a:endParaRPr/>
          </a:p>
        </p:txBody>
      </p:sp>
      <p:sp>
        <p:nvSpPr>
          <p:cNvPr id="242" name="Google Shape;24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აი, ასე გამოიყურება ერთი დაჯავშნის სრული ციკლი. მომხმარებელი ირჩევს ტიპსა და ხანგრძლივობას, სისტემა უჩვენებს მხოლოდ თავისუფალ ოთახებს, შემდეგ გამოითვლება ჯამური ფასი. თუ ბიუჯეტი საკმარისია, ხდება გადახდა, ირიცხება ქულები და ბოლოს — ყველაფერი ავტომატურად ილოგება ფაილში.</a:t>
            </a:r>
            <a:endParaRPr/>
          </a:p>
        </p:txBody>
      </p:sp>
      <p:sp>
        <p:nvSpPr>
          <p:cNvPr id="282" name="Google Shape;28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ოთხი მთავარი წესი იცავს მონაცემების მთლიანობას: ვერასდროს დაჯავშნი დაკავებულ ოთახს, ვერასდროს გადააჭარბებ საკუთარ ბიუჯეტს, ღამეების რაოდენობა ყოველთვის დადებითი უნდა იყოს, და ვწერთ ლოგში როგორც წარმატებულ, ისე წარუმატებელ მცდელობებს — რაც დებაგინგისა და აუდიტისთვის სასარგებლოა.</a:t>
            </a:r>
            <a:endParaRPr/>
          </a:p>
        </p:txBody>
      </p:sp>
      <p:sp>
        <p:nvSpPr>
          <p:cNvPr id="308" name="Google Shape;30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ორი დამატებითი, მაგრამ მნიშვნელოვანი ფუნქციაა. ჯილდოს ქულების სისტემა მარტივია — ყოველ 10 ლარზე ერთი ქულა — მაგრამ არქიტექტურულად ღიაა გაფართოებისთვის, მაგალითად, VIP დონეების დასამატებლად. ლოგირებისთვის ვიყენებ print()-ის ნაცვლად სტანდარტულ logging მოდულს, რომელიც წერს დროის შტამპსა და დონეს — ეს პროფესიონალური მიდგომაა, რომელიც აადვილებს პრობლემების მოგვარებას საწარმოო გარემოში.</a:t>
            </a:r>
            <a:endParaRPr/>
          </a:p>
        </p:txBody>
      </p:sp>
      <p:sp>
        <p:nvSpPr>
          <p:cNvPr id="336" name="Google Shape;33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პროექტს ახლავს 11 unittest ტესტი, რომლებიც ფარავს სამივე კლასის კრიტიკულ ლოგიკას — ოთახის სტატუსის ცვლილებას, ფასის გამოთვლას, ბიუჯეტის შემცირებას წარმატებული და წარუმატებელი გადახდისას, და დაჯავშნა/გაუქმების სცენარებს. ყველა ტესტი გადის — ეს ადასტურებს, რომ ბიზნეს ლოგიკა სტაბილურად მუშაობს, თუნდაც კოდი მომავალში შეიცვალოს.</a:t>
            </a:r>
            <a:endParaRPr/>
          </a:p>
        </p:txBody>
      </p:sp>
      <p:sp>
        <p:nvSpPr>
          <p:cNvPr id="357" name="Google Shape;35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Front-End მხარეს გამოვიყენე ყველა სავალდებულო სემანტიკური თეგი — header, nav ul li, section, h1/h2, p, form, input, button, footer, id და class ატრიბუტები. CSS სტრუქტურაც მოთხოვნების მიხედვითაა აწყობილი — flex განლაგება header-სა და nav-ისთვის, სუფთა სია ნავიგაციისთვის, საერთო სტილი ღილაკებისთვის და footer-ისთვის.</a:t>
            </a:r>
            <a:endParaRPr/>
          </a:p>
        </p:txBody>
      </p:sp>
      <p:sp>
        <p:nvSpPr>
          <p:cNvPr id="381" name="Google Shape;38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აქ ჩანს, როგორ მუშაობს ინტერფეისი პრაქტიკაში — ოთახის ბარათები აჩვენებს ტიპს, ფასს და სტატუსს, დაჯავშნის ფორმაში მომხმარებელი ირჩევს სახელს, ბიუჯეტს, ოთახსა და ღამეების რაოდენობას, submit-ის შემდეგ JavaScript ამოწმებს ბიუჯეტსა და ხელმისაწვდომობას და დაუყოვნებლივ აჩვენებს სტატუსს — ეს იმეორებს Back-End-ის ლოგიკას კლიენტის მხარეს.</a:t>
            </a:r>
            <a:endParaRPr/>
          </a:p>
        </p:txBody>
      </p:sp>
      <p:sp>
        <p:nvSpPr>
          <p:cNvPr id="409" name="Google Shape;4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პროექტი დაწერილია სუფთა Python 3-ზე სტანდარტული ბიბლიოთეკით — გარე დამოკიდებულებები არ სჭირდება. რეპოზიტორია დალაგებულია backend და frontend საქაღალდეებად, README ფაილით, რომელიც აღწერს არქიტექტურასა და გაშვების ინსტრუქციას. კონსოლის ტექსტი ინგლისურადაა, რომ თავიდან ავიცილო კოდირების პრობლემები სხვადასხვა ტერმინალში.</a:t>
            </a:r>
            <a:endParaRPr/>
          </a:p>
        </p:txBody>
      </p:sp>
      <p:sp>
        <p:nvSpPr>
          <p:cNvPr id="462" name="Google Shape;46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პროექტზე მუშაობისას რამდენიმე საინტერესო გამოწვევა შემხვდა. პირველი — ტერმინალის კოდირების პრობლემა ქართული ტექსტით, რომელიც ინგლისურ ტექსტზე გადასვლით მოვაგვარე. მეორე — უნდა დავრწმუნებულიყავი, რომ დაჯავშნის პროცესი ატომურია, ანუ ოთახი არასდროს რჩება 'ნახევრად დაკავებული' მდგომარეობაში. მესამე — შევეცადე სეზონურობის ლოგიკა საკმარისად მარტივი და გასაგები გამეხადა, ისე, რომ რეალისტურიც დარჩენილიყო. რაც შეეხება მომავალს — ყველაზე ბუნებრივი გაფართოება იქნება რეალური API-ის აწყობა Back-End-სა და Front-End-ს შორის, მონაცემთა ბაზის დამატება და მრავალმომხმარებლიანი მხარდაჭერა.</a:t>
            </a:r>
            <a:endParaRPr/>
          </a:p>
        </p:txBody>
      </p:sp>
      <p:sp>
        <p:nvSpPr>
          <p:cNvPr id="495" name="Google Shape;49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შევაჯამოთ: მოცემულია სამი ურთიერთდაკავშირებული კლასი მკაფიო პასუხისმგებლობებით, დინამიური ფასწარმოქმნა და სრული ვალიდაცია, ჯილდოს ქულები, ლოგირება, 11 unittest ტესტი, და სემანტიკური Front-End, რომელიც ვიზუალურად ერწყმის Back-End-ის ლოგიკას. პროექტი მზადაა GitHub-ზე ასატვირთად. მადლობა ყურადღებისთვის — მზად ვარ კითხვებზე პასუხის გასაცემად.</a:t>
            </a:r>
            <a:endParaRPr/>
          </a:p>
        </p:txBody>
      </p:sp>
      <p:sp>
        <p:nvSpPr>
          <p:cNvPr id="524" name="Google Shape;52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7.png"/><Relationship Id="rId6"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1"/>
        </a:solidFill>
      </p:bgPr>
    </p:bg>
    <p:spTree>
      <p:nvGrpSpPr>
        <p:cNvPr id="15" name="Shape 15"/>
        <p:cNvGrpSpPr/>
        <p:nvPr/>
      </p:nvGrpSpPr>
      <p:grpSpPr>
        <a:xfrm>
          <a:off x="0" y="0"/>
          <a:ext cx="0" cy="0"/>
          <a:chOff x="0" y="0"/>
          <a:chExt cx="0" cy="0"/>
        </a:xfrm>
      </p:grpSpPr>
      <p:cxnSp>
        <p:nvCxnSpPr>
          <p:cNvPr id="16" name="Google Shape;16;p1"/>
          <p:cNvCxnSpPr/>
          <p:nvPr/>
        </p:nvCxnSpPr>
        <p:spPr>
          <a:xfrm>
            <a:off x="-658368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17" name="Google Shape;17;p1"/>
          <p:cNvCxnSpPr/>
          <p:nvPr/>
        </p:nvCxnSpPr>
        <p:spPr>
          <a:xfrm>
            <a:off x="-576072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18" name="Google Shape;18;p1"/>
          <p:cNvCxnSpPr/>
          <p:nvPr/>
        </p:nvCxnSpPr>
        <p:spPr>
          <a:xfrm>
            <a:off x="-493776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19" name="Google Shape;19;p1"/>
          <p:cNvCxnSpPr/>
          <p:nvPr/>
        </p:nvCxnSpPr>
        <p:spPr>
          <a:xfrm>
            <a:off x="-411480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0" name="Google Shape;20;p1"/>
          <p:cNvCxnSpPr/>
          <p:nvPr/>
        </p:nvCxnSpPr>
        <p:spPr>
          <a:xfrm>
            <a:off x="-329184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1" name="Google Shape;21;p1"/>
          <p:cNvCxnSpPr/>
          <p:nvPr/>
        </p:nvCxnSpPr>
        <p:spPr>
          <a:xfrm>
            <a:off x="-246888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2" name="Google Shape;22;p1"/>
          <p:cNvCxnSpPr/>
          <p:nvPr/>
        </p:nvCxnSpPr>
        <p:spPr>
          <a:xfrm>
            <a:off x="-164592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3" name="Google Shape;23;p1"/>
          <p:cNvCxnSpPr/>
          <p:nvPr/>
        </p:nvCxnSpPr>
        <p:spPr>
          <a:xfrm>
            <a:off x="-82296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4" name="Google Shape;24;p1"/>
          <p:cNvCxnSpPr/>
          <p:nvPr/>
        </p:nvCxnSpPr>
        <p:spPr>
          <a:xfrm>
            <a:off x="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5" name="Google Shape;25;p1"/>
          <p:cNvCxnSpPr/>
          <p:nvPr/>
        </p:nvCxnSpPr>
        <p:spPr>
          <a:xfrm>
            <a:off x="82296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6" name="Google Shape;26;p1"/>
          <p:cNvCxnSpPr/>
          <p:nvPr/>
        </p:nvCxnSpPr>
        <p:spPr>
          <a:xfrm>
            <a:off x="164592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7" name="Google Shape;27;p1"/>
          <p:cNvCxnSpPr/>
          <p:nvPr/>
        </p:nvCxnSpPr>
        <p:spPr>
          <a:xfrm>
            <a:off x="246888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8" name="Google Shape;28;p1"/>
          <p:cNvCxnSpPr/>
          <p:nvPr/>
        </p:nvCxnSpPr>
        <p:spPr>
          <a:xfrm>
            <a:off x="329184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29" name="Google Shape;29;p1"/>
          <p:cNvCxnSpPr/>
          <p:nvPr/>
        </p:nvCxnSpPr>
        <p:spPr>
          <a:xfrm>
            <a:off x="411480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0" name="Google Shape;30;p1"/>
          <p:cNvCxnSpPr/>
          <p:nvPr/>
        </p:nvCxnSpPr>
        <p:spPr>
          <a:xfrm>
            <a:off x="493776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1" name="Google Shape;31;p1"/>
          <p:cNvCxnSpPr/>
          <p:nvPr/>
        </p:nvCxnSpPr>
        <p:spPr>
          <a:xfrm>
            <a:off x="576072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2" name="Google Shape;32;p1"/>
          <p:cNvCxnSpPr/>
          <p:nvPr/>
        </p:nvCxnSpPr>
        <p:spPr>
          <a:xfrm>
            <a:off x="658368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3" name="Google Shape;33;p1"/>
          <p:cNvCxnSpPr/>
          <p:nvPr/>
        </p:nvCxnSpPr>
        <p:spPr>
          <a:xfrm>
            <a:off x="740664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4" name="Google Shape;34;p1"/>
          <p:cNvCxnSpPr/>
          <p:nvPr/>
        </p:nvCxnSpPr>
        <p:spPr>
          <a:xfrm>
            <a:off x="822960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5" name="Google Shape;35;p1"/>
          <p:cNvCxnSpPr/>
          <p:nvPr/>
        </p:nvCxnSpPr>
        <p:spPr>
          <a:xfrm>
            <a:off x="905256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6" name="Google Shape;36;p1"/>
          <p:cNvCxnSpPr/>
          <p:nvPr/>
        </p:nvCxnSpPr>
        <p:spPr>
          <a:xfrm>
            <a:off x="987552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7" name="Google Shape;37;p1"/>
          <p:cNvCxnSpPr/>
          <p:nvPr/>
        </p:nvCxnSpPr>
        <p:spPr>
          <a:xfrm>
            <a:off x="1069848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8" name="Google Shape;38;p1"/>
          <p:cNvCxnSpPr/>
          <p:nvPr/>
        </p:nvCxnSpPr>
        <p:spPr>
          <a:xfrm>
            <a:off x="1152144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39" name="Google Shape;39;p1"/>
          <p:cNvCxnSpPr/>
          <p:nvPr/>
        </p:nvCxnSpPr>
        <p:spPr>
          <a:xfrm>
            <a:off x="1234440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40" name="Google Shape;40;p1"/>
          <p:cNvCxnSpPr/>
          <p:nvPr/>
        </p:nvCxnSpPr>
        <p:spPr>
          <a:xfrm>
            <a:off x="1316736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41" name="Google Shape;41;p1"/>
          <p:cNvCxnSpPr/>
          <p:nvPr/>
        </p:nvCxnSpPr>
        <p:spPr>
          <a:xfrm>
            <a:off x="1399032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42" name="Google Shape;42;p1"/>
          <p:cNvCxnSpPr/>
          <p:nvPr/>
        </p:nvCxnSpPr>
        <p:spPr>
          <a:xfrm>
            <a:off x="14813280" y="0"/>
            <a:ext cx="0" cy="6858000"/>
          </a:xfrm>
          <a:prstGeom prst="straightConnector1">
            <a:avLst/>
          </a:prstGeom>
          <a:noFill/>
          <a:ln cap="flat" cmpd="sng" w="12700">
            <a:solidFill>
              <a:srgbClr val="24374F"/>
            </a:solidFill>
            <a:prstDash val="solid"/>
            <a:round/>
            <a:headEnd len="sm" w="sm" type="none"/>
            <a:tailEnd len="sm" w="sm" type="none"/>
          </a:ln>
        </p:spPr>
      </p:cxnSp>
      <p:cxnSp>
        <p:nvCxnSpPr>
          <p:cNvPr id="43" name="Google Shape;43;p1"/>
          <p:cNvCxnSpPr/>
          <p:nvPr/>
        </p:nvCxnSpPr>
        <p:spPr>
          <a:xfrm>
            <a:off x="15636240" y="0"/>
            <a:ext cx="0" cy="6858000"/>
          </a:xfrm>
          <a:prstGeom prst="straightConnector1">
            <a:avLst/>
          </a:prstGeom>
          <a:noFill/>
          <a:ln cap="flat" cmpd="sng" w="12700">
            <a:solidFill>
              <a:srgbClr val="24374F"/>
            </a:solidFill>
            <a:prstDash val="solid"/>
            <a:round/>
            <a:headEnd len="sm" w="sm" type="none"/>
            <a:tailEnd len="sm" w="sm" type="none"/>
          </a:ln>
        </p:spPr>
      </p:cxnSp>
      <p:sp>
        <p:nvSpPr>
          <p:cNvPr id="44" name="Google Shape;44;p1"/>
          <p:cNvSpPr/>
          <p:nvPr/>
        </p:nvSpPr>
        <p:spPr>
          <a:xfrm>
            <a:off x="822960" y="685800"/>
            <a:ext cx="822960" cy="82296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hotel_navy.png" id="45" name="Google Shape;45;p1"/>
          <p:cNvPicPr preferRelativeResize="0"/>
          <p:nvPr/>
        </p:nvPicPr>
        <p:blipFill rotWithShape="1">
          <a:blip r:embed="rId3">
            <a:alphaModFix/>
          </a:blip>
          <a:srcRect b="0" l="0" r="0" t="0"/>
          <a:stretch/>
        </p:blipFill>
        <p:spPr>
          <a:xfrm>
            <a:off x="1005840" y="868680"/>
            <a:ext cx="457200" cy="457200"/>
          </a:xfrm>
          <a:prstGeom prst="rect">
            <a:avLst/>
          </a:prstGeom>
          <a:noFill/>
          <a:ln>
            <a:noFill/>
          </a:ln>
        </p:spPr>
      </p:pic>
      <p:sp>
        <p:nvSpPr>
          <p:cNvPr id="46" name="Google Shape;46;p1"/>
          <p:cNvSpPr/>
          <p:nvPr/>
        </p:nvSpPr>
        <p:spPr>
          <a:xfrm>
            <a:off x="822960" y="233172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15A"/>
              </a:buClr>
              <a:buSzPts val="1600"/>
              <a:buFont typeface="Calibri"/>
              <a:buNone/>
            </a:pPr>
            <a:r>
              <a:rPr b="1" i="0" lang="en-US" sz="1600" u="none" cap="none" strike="noStrike">
                <a:solidFill>
                  <a:srgbClr val="C9A15A"/>
                </a:solidFill>
                <a:latin typeface="Calibri"/>
                <a:ea typeface="Calibri"/>
                <a:cs typeface="Calibri"/>
                <a:sym typeface="Calibri"/>
              </a:rPr>
              <a:t>TBILISI GRAND HOTEL</a:t>
            </a:r>
            <a:endParaRPr b="0" i="0" sz="1600" u="none" cap="none" strike="noStrike">
              <a:solidFill>
                <a:schemeClr val="dk1"/>
              </a:solidFill>
              <a:latin typeface="Calibri"/>
              <a:ea typeface="Calibri"/>
              <a:cs typeface="Calibri"/>
              <a:sym typeface="Calibri"/>
            </a:endParaRPr>
          </a:p>
        </p:txBody>
      </p:sp>
      <p:sp>
        <p:nvSpPr>
          <p:cNvPr id="47" name="Google Shape;47;p1"/>
          <p:cNvSpPr/>
          <p:nvPr/>
        </p:nvSpPr>
        <p:spPr>
          <a:xfrm>
            <a:off x="822960" y="2743200"/>
            <a:ext cx="10515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სასტუმროს დაჯავშნის სააგენტო</a:t>
            </a:r>
            <a:endParaRPr b="0" i="0" sz="4000" u="none" cap="none" strike="noStrike">
              <a:solidFill>
                <a:schemeClr val="dk1"/>
              </a:solidFill>
              <a:latin typeface="Calibri"/>
              <a:ea typeface="Calibri"/>
              <a:cs typeface="Calibri"/>
              <a:sym typeface="Calibri"/>
            </a:endParaRPr>
          </a:p>
        </p:txBody>
      </p:sp>
      <p:sp>
        <p:nvSpPr>
          <p:cNvPr id="48" name="Google Shape;48;p1"/>
          <p:cNvSpPr/>
          <p:nvPr/>
        </p:nvSpPr>
        <p:spPr>
          <a:xfrm>
            <a:off x="822960" y="3611880"/>
            <a:ext cx="9601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8D0BC"/>
              </a:buClr>
              <a:buSzPts val="1800"/>
              <a:buFont typeface="Calibri"/>
              <a:buNone/>
            </a:pPr>
            <a:r>
              <a:rPr i="1" lang="en-US" sz="1800">
                <a:solidFill>
                  <a:srgbClr val="D8D0BC"/>
                </a:solidFill>
                <a:latin typeface="Calibri"/>
                <a:ea typeface="Calibri"/>
                <a:cs typeface="Calibri"/>
                <a:sym typeface="Calibri"/>
              </a:rPr>
              <a:t>commschool x GITA | Python |</a:t>
            </a:r>
            <a:r>
              <a:rPr b="0" i="1" lang="en-US" sz="1800" u="none" cap="none" strike="noStrike">
                <a:solidFill>
                  <a:srgbClr val="D8D0BC"/>
                </a:solidFill>
                <a:latin typeface="Calibri"/>
                <a:ea typeface="Calibri"/>
                <a:cs typeface="Calibri"/>
                <a:sym typeface="Calibri"/>
              </a:rPr>
              <a:t>— ფინალური პროექტი</a:t>
            </a:r>
            <a:endParaRPr b="0" i="0" sz="1800" u="none" cap="none" strike="noStrike">
              <a:solidFill>
                <a:schemeClr val="dk1"/>
              </a:solidFill>
              <a:latin typeface="Calibri"/>
              <a:ea typeface="Calibri"/>
              <a:cs typeface="Calibri"/>
              <a:sym typeface="Calibri"/>
            </a:endParaRPr>
          </a:p>
        </p:txBody>
      </p:sp>
      <p:cxnSp>
        <p:nvCxnSpPr>
          <p:cNvPr id="49" name="Google Shape;49;p1"/>
          <p:cNvCxnSpPr/>
          <p:nvPr/>
        </p:nvCxnSpPr>
        <p:spPr>
          <a:xfrm>
            <a:off x="822960" y="4251960"/>
            <a:ext cx="2011680" cy="0"/>
          </a:xfrm>
          <a:prstGeom prst="straightConnector1">
            <a:avLst/>
          </a:prstGeom>
          <a:noFill/>
          <a:ln cap="flat" cmpd="sng" w="25400">
            <a:solidFill>
              <a:srgbClr val="C9A15A"/>
            </a:solidFill>
            <a:prstDash val="solid"/>
            <a:round/>
            <a:headEnd len="sm" w="sm" type="none"/>
            <a:tailEnd len="sm" w="sm" type="none"/>
          </a:ln>
        </p:spPr>
      </p:cxnSp>
      <p:sp>
        <p:nvSpPr>
          <p:cNvPr id="50" name="Google Shape;50;p1"/>
          <p:cNvSpPr/>
          <p:nvPr/>
        </p:nvSpPr>
        <p:spPr>
          <a:xfrm>
            <a:off x="822960" y="4434840"/>
            <a:ext cx="9601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A38E"/>
              </a:buClr>
              <a:buSzPts val="1300"/>
              <a:buFont typeface="Calibri"/>
              <a:buNone/>
            </a:pPr>
            <a:r>
              <a:rPr b="0" i="0" lang="en-US" sz="1300" u="none" cap="none" strike="noStrike">
                <a:solidFill>
                  <a:srgbClr val="A9A38E"/>
                </a:solidFill>
                <a:latin typeface="Calibri"/>
                <a:ea typeface="Calibri"/>
                <a:cs typeface="Calibri"/>
                <a:sym typeface="Calibri"/>
              </a:rPr>
              <a:t>Room · Customer · Hotel კლასები  |  ლოგირება  |  unittest ტესტირება</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E"/>
        </a:solidFill>
      </p:bgPr>
    </p:bg>
    <p:spTree>
      <p:nvGrpSpPr>
        <p:cNvPr id="55" name="Shape 55"/>
        <p:cNvGrpSpPr/>
        <p:nvPr/>
      </p:nvGrpSpPr>
      <p:grpSpPr>
        <a:xfrm>
          <a:off x="0" y="0"/>
          <a:ext cx="0" cy="0"/>
          <a:chOff x="0" y="0"/>
          <a:chExt cx="0" cy="0"/>
        </a:xfrm>
      </p:grpSpPr>
      <p:sp>
        <p:nvSpPr>
          <p:cNvPr id="56" name="Google Shape;56;p2"/>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გეგმა</a:t>
            </a:r>
            <a:endParaRPr b="0" i="0" sz="2800" u="none" cap="none" strike="noStrike">
              <a:solidFill>
                <a:schemeClr val="dk1"/>
              </a:solidFill>
              <a:latin typeface="Calibri"/>
              <a:ea typeface="Calibri"/>
              <a:cs typeface="Calibri"/>
              <a:sym typeface="Calibri"/>
            </a:endParaRPr>
          </a:p>
        </p:txBody>
      </p:sp>
      <p:sp>
        <p:nvSpPr>
          <p:cNvPr id="57" name="Google Shape;57;p2"/>
          <p:cNvSpPr/>
          <p:nvPr/>
        </p:nvSpPr>
        <p:spPr>
          <a:xfrm>
            <a:off x="548640" y="1280160"/>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548640" y="1280160"/>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1</a:t>
            </a:r>
            <a:endParaRPr b="0" i="0" sz="1250" u="none" cap="none" strike="noStrike">
              <a:solidFill>
                <a:schemeClr val="dk1"/>
              </a:solidFill>
              <a:latin typeface="Calibri"/>
              <a:ea typeface="Calibri"/>
              <a:cs typeface="Calibri"/>
              <a:sym typeface="Calibri"/>
            </a:endParaRPr>
          </a:p>
        </p:txBody>
      </p:sp>
      <p:sp>
        <p:nvSpPr>
          <p:cNvPr id="59" name="Google Shape;59;p2"/>
          <p:cNvSpPr/>
          <p:nvPr/>
        </p:nvSpPr>
        <p:spPr>
          <a:xfrm>
            <a:off x="1115568" y="1261872"/>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პრობლემა და მიზანი</a:t>
            </a:r>
            <a:endParaRPr b="0" i="0" sz="1350" u="none" cap="none" strike="noStrike">
              <a:solidFill>
                <a:schemeClr val="dk1"/>
              </a:solidFill>
              <a:latin typeface="Calibri"/>
              <a:ea typeface="Calibri"/>
              <a:cs typeface="Calibri"/>
              <a:sym typeface="Calibri"/>
            </a:endParaRPr>
          </a:p>
        </p:txBody>
      </p:sp>
      <p:sp>
        <p:nvSpPr>
          <p:cNvPr id="60" name="Google Shape;60;p2"/>
          <p:cNvSpPr/>
          <p:nvPr/>
        </p:nvSpPr>
        <p:spPr>
          <a:xfrm>
            <a:off x="548640" y="1847088"/>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48640" y="184708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2</a:t>
            </a:r>
            <a:endParaRPr b="0" i="0" sz="1250" u="none" cap="none" strike="noStrike">
              <a:solidFill>
                <a:schemeClr val="dk1"/>
              </a:solidFill>
              <a:latin typeface="Calibri"/>
              <a:ea typeface="Calibri"/>
              <a:cs typeface="Calibri"/>
              <a:sym typeface="Calibri"/>
            </a:endParaRPr>
          </a:p>
        </p:txBody>
      </p:sp>
      <p:sp>
        <p:nvSpPr>
          <p:cNvPr id="62" name="Google Shape;62;p2"/>
          <p:cNvSpPr/>
          <p:nvPr/>
        </p:nvSpPr>
        <p:spPr>
          <a:xfrm>
            <a:off x="1115568" y="1828800"/>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პროექტის მიმოხილვა</a:t>
            </a:r>
            <a:endParaRPr b="0" i="0" sz="1350" u="none" cap="none" strike="noStrike">
              <a:solidFill>
                <a:schemeClr val="dk1"/>
              </a:solidFill>
              <a:latin typeface="Calibri"/>
              <a:ea typeface="Calibri"/>
              <a:cs typeface="Calibri"/>
              <a:sym typeface="Calibri"/>
            </a:endParaRPr>
          </a:p>
        </p:txBody>
      </p:sp>
      <p:sp>
        <p:nvSpPr>
          <p:cNvPr id="63" name="Google Shape;63;p2"/>
          <p:cNvSpPr/>
          <p:nvPr/>
        </p:nvSpPr>
        <p:spPr>
          <a:xfrm>
            <a:off x="548640" y="2414016"/>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48640" y="2414016"/>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3</a:t>
            </a:r>
            <a:endParaRPr b="0" i="0" sz="1250" u="none" cap="none" strike="noStrike">
              <a:solidFill>
                <a:schemeClr val="dk1"/>
              </a:solidFill>
              <a:latin typeface="Calibri"/>
              <a:ea typeface="Calibri"/>
              <a:cs typeface="Calibri"/>
              <a:sym typeface="Calibri"/>
            </a:endParaRPr>
          </a:p>
        </p:txBody>
      </p:sp>
      <p:sp>
        <p:nvSpPr>
          <p:cNvPr id="65" name="Google Shape;65;p2"/>
          <p:cNvSpPr/>
          <p:nvPr/>
        </p:nvSpPr>
        <p:spPr>
          <a:xfrm>
            <a:off x="1115568" y="2395728"/>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არქიტექტურა — 3 კლასის მიმოხილვა</a:t>
            </a:r>
            <a:endParaRPr b="0" i="0" sz="1350" u="none" cap="none" strike="noStrike">
              <a:solidFill>
                <a:schemeClr val="dk1"/>
              </a:solidFill>
              <a:latin typeface="Calibri"/>
              <a:ea typeface="Calibri"/>
              <a:cs typeface="Calibri"/>
              <a:sym typeface="Calibri"/>
            </a:endParaRPr>
          </a:p>
        </p:txBody>
      </p:sp>
      <p:sp>
        <p:nvSpPr>
          <p:cNvPr id="66" name="Google Shape;66;p2"/>
          <p:cNvSpPr/>
          <p:nvPr/>
        </p:nvSpPr>
        <p:spPr>
          <a:xfrm>
            <a:off x="548640" y="2980944"/>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548640" y="2980944"/>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4</a:t>
            </a:r>
            <a:endParaRPr b="0" i="0" sz="1250" u="none" cap="none" strike="noStrike">
              <a:solidFill>
                <a:schemeClr val="dk1"/>
              </a:solidFill>
              <a:latin typeface="Calibri"/>
              <a:ea typeface="Calibri"/>
              <a:cs typeface="Calibri"/>
              <a:sym typeface="Calibri"/>
            </a:endParaRPr>
          </a:p>
        </p:txBody>
      </p:sp>
      <p:sp>
        <p:nvSpPr>
          <p:cNvPr id="68" name="Google Shape;68;p2"/>
          <p:cNvSpPr/>
          <p:nvPr/>
        </p:nvSpPr>
        <p:spPr>
          <a:xfrm>
            <a:off x="1115568" y="2962656"/>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Room, Customer, Hotel — დეტალურად</a:t>
            </a:r>
            <a:endParaRPr b="0" i="0" sz="1350" u="none" cap="none" strike="noStrike">
              <a:solidFill>
                <a:schemeClr val="dk1"/>
              </a:solidFill>
              <a:latin typeface="Calibri"/>
              <a:ea typeface="Calibri"/>
              <a:cs typeface="Calibri"/>
              <a:sym typeface="Calibri"/>
            </a:endParaRPr>
          </a:p>
        </p:txBody>
      </p:sp>
      <p:sp>
        <p:nvSpPr>
          <p:cNvPr id="69" name="Google Shape;69;p2"/>
          <p:cNvSpPr/>
          <p:nvPr/>
        </p:nvSpPr>
        <p:spPr>
          <a:xfrm>
            <a:off x="548640" y="3547872"/>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548640" y="3547872"/>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5</a:t>
            </a:r>
            <a:endParaRPr b="0" i="0" sz="1250" u="none" cap="none" strike="noStrike">
              <a:solidFill>
                <a:schemeClr val="dk1"/>
              </a:solidFill>
              <a:latin typeface="Calibri"/>
              <a:ea typeface="Calibri"/>
              <a:cs typeface="Calibri"/>
              <a:sym typeface="Calibri"/>
            </a:endParaRPr>
          </a:p>
        </p:txBody>
      </p:sp>
      <p:sp>
        <p:nvSpPr>
          <p:cNvPr id="71" name="Google Shape;71;p2"/>
          <p:cNvSpPr/>
          <p:nvPr/>
        </p:nvSpPr>
        <p:spPr>
          <a:xfrm>
            <a:off x="1115568" y="3529584"/>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დინამიური ფასწარმოქმნა</a:t>
            </a:r>
            <a:endParaRPr b="0" i="0" sz="1350" u="none" cap="none" strike="noStrike">
              <a:solidFill>
                <a:schemeClr val="dk1"/>
              </a:solidFill>
              <a:latin typeface="Calibri"/>
              <a:ea typeface="Calibri"/>
              <a:cs typeface="Calibri"/>
              <a:sym typeface="Calibri"/>
            </a:endParaRPr>
          </a:p>
        </p:txBody>
      </p:sp>
      <p:sp>
        <p:nvSpPr>
          <p:cNvPr id="72" name="Google Shape;72;p2"/>
          <p:cNvSpPr/>
          <p:nvPr/>
        </p:nvSpPr>
        <p:spPr>
          <a:xfrm>
            <a:off x="548640" y="4114800"/>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548640" y="4114800"/>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6</a:t>
            </a:r>
            <a:endParaRPr b="0" i="0" sz="1250" u="none" cap="none" strike="noStrike">
              <a:solidFill>
                <a:schemeClr val="dk1"/>
              </a:solidFill>
              <a:latin typeface="Calibri"/>
              <a:ea typeface="Calibri"/>
              <a:cs typeface="Calibri"/>
              <a:sym typeface="Calibri"/>
            </a:endParaRPr>
          </a:p>
        </p:txBody>
      </p:sp>
      <p:sp>
        <p:nvSpPr>
          <p:cNvPr id="74" name="Google Shape;74;p2"/>
          <p:cNvSpPr/>
          <p:nvPr/>
        </p:nvSpPr>
        <p:spPr>
          <a:xfrm>
            <a:off x="1115568" y="4096512"/>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დაჯავშნის პროცესის ლოგიკა</a:t>
            </a:r>
            <a:endParaRPr b="0" i="0" sz="1350" u="none" cap="none" strike="noStrike">
              <a:solidFill>
                <a:schemeClr val="dk1"/>
              </a:solidFill>
              <a:latin typeface="Calibri"/>
              <a:ea typeface="Calibri"/>
              <a:cs typeface="Calibri"/>
              <a:sym typeface="Calibri"/>
            </a:endParaRPr>
          </a:p>
        </p:txBody>
      </p:sp>
      <p:sp>
        <p:nvSpPr>
          <p:cNvPr id="75" name="Google Shape;75;p2"/>
          <p:cNvSpPr/>
          <p:nvPr/>
        </p:nvSpPr>
        <p:spPr>
          <a:xfrm>
            <a:off x="6309360" y="1280160"/>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6309360" y="1280160"/>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7</a:t>
            </a:r>
            <a:endParaRPr b="0" i="0" sz="1250" u="none" cap="none" strike="noStrike">
              <a:solidFill>
                <a:schemeClr val="dk1"/>
              </a:solidFill>
              <a:latin typeface="Calibri"/>
              <a:ea typeface="Calibri"/>
              <a:cs typeface="Calibri"/>
              <a:sym typeface="Calibri"/>
            </a:endParaRPr>
          </a:p>
        </p:txBody>
      </p:sp>
      <p:sp>
        <p:nvSpPr>
          <p:cNvPr id="77" name="Google Shape;77;p2"/>
          <p:cNvSpPr/>
          <p:nvPr/>
        </p:nvSpPr>
        <p:spPr>
          <a:xfrm>
            <a:off x="6876288" y="1261872"/>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ვალიდაცია და ბიზნეს წესები</a:t>
            </a:r>
            <a:endParaRPr b="0" i="0" sz="1350" u="none" cap="none" strike="noStrike">
              <a:solidFill>
                <a:schemeClr val="dk1"/>
              </a:solidFill>
              <a:latin typeface="Calibri"/>
              <a:ea typeface="Calibri"/>
              <a:cs typeface="Calibri"/>
              <a:sym typeface="Calibri"/>
            </a:endParaRPr>
          </a:p>
        </p:txBody>
      </p:sp>
      <p:sp>
        <p:nvSpPr>
          <p:cNvPr id="78" name="Google Shape;78;p2"/>
          <p:cNvSpPr/>
          <p:nvPr/>
        </p:nvSpPr>
        <p:spPr>
          <a:xfrm>
            <a:off x="6309360" y="1847088"/>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6309360" y="1847088"/>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8</a:t>
            </a:r>
            <a:endParaRPr b="0" i="0" sz="1250" u="none" cap="none" strike="noStrike">
              <a:solidFill>
                <a:schemeClr val="dk1"/>
              </a:solidFill>
              <a:latin typeface="Calibri"/>
              <a:ea typeface="Calibri"/>
              <a:cs typeface="Calibri"/>
              <a:sym typeface="Calibri"/>
            </a:endParaRPr>
          </a:p>
        </p:txBody>
      </p:sp>
      <p:sp>
        <p:nvSpPr>
          <p:cNvPr id="80" name="Google Shape;80;p2"/>
          <p:cNvSpPr/>
          <p:nvPr/>
        </p:nvSpPr>
        <p:spPr>
          <a:xfrm>
            <a:off x="6876288" y="1828800"/>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ჯილდოს ქულები და ლოგირება</a:t>
            </a:r>
            <a:endParaRPr b="0" i="0" sz="1350" u="none" cap="none" strike="noStrike">
              <a:solidFill>
                <a:schemeClr val="dk1"/>
              </a:solidFill>
              <a:latin typeface="Calibri"/>
              <a:ea typeface="Calibri"/>
              <a:cs typeface="Calibri"/>
              <a:sym typeface="Calibri"/>
            </a:endParaRPr>
          </a:p>
        </p:txBody>
      </p:sp>
      <p:sp>
        <p:nvSpPr>
          <p:cNvPr id="81" name="Google Shape;81;p2"/>
          <p:cNvSpPr/>
          <p:nvPr/>
        </p:nvSpPr>
        <p:spPr>
          <a:xfrm>
            <a:off x="6309360" y="2414016"/>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6309360" y="2414016"/>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9</a:t>
            </a:r>
            <a:endParaRPr b="0" i="0" sz="1250" u="none" cap="none" strike="noStrike">
              <a:solidFill>
                <a:schemeClr val="dk1"/>
              </a:solidFill>
              <a:latin typeface="Calibri"/>
              <a:ea typeface="Calibri"/>
              <a:cs typeface="Calibri"/>
              <a:sym typeface="Calibri"/>
            </a:endParaRPr>
          </a:p>
        </p:txBody>
      </p:sp>
      <p:sp>
        <p:nvSpPr>
          <p:cNvPr id="83" name="Google Shape;83;p2"/>
          <p:cNvSpPr/>
          <p:nvPr/>
        </p:nvSpPr>
        <p:spPr>
          <a:xfrm>
            <a:off x="6876288" y="2395728"/>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ტესტირება — unittest</a:t>
            </a:r>
            <a:endParaRPr b="0" i="0" sz="1350" u="none" cap="none" strike="noStrike">
              <a:solidFill>
                <a:schemeClr val="dk1"/>
              </a:solidFill>
              <a:latin typeface="Calibri"/>
              <a:ea typeface="Calibri"/>
              <a:cs typeface="Calibri"/>
              <a:sym typeface="Calibri"/>
            </a:endParaRPr>
          </a:p>
        </p:txBody>
      </p:sp>
      <p:sp>
        <p:nvSpPr>
          <p:cNvPr id="84" name="Google Shape;84;p2"/>
          <p:cNvSpPr/>
          <p:nvPr/>
        </p:nvSpPr>
        <p:spPr>
          <a:xfrm>
            <a:off x="6309360" y="2980944"/>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6309360" y="2980944"/>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10</a:t>
            </a:r>
            <a:endParaRPr b="0" i="0" sz="1250" u="none" cap="none" strike="noStrike">
              <a:solidFill>
                <a:schemeClr val="dk1"/>
              </a:solidFill>
              <a:latin typeface="Calibri"/>
              <a:ea typeface="Calibri"/>
              <a:cs typeface="Calibri"/>
              <a:sym typeface="Calibri"/>
            </a:endParaRPr>
          </a:p>
        </p:txBody>
      </p:sp>
      <p:sp>
        <p:nvSpPr>
          <p:cNvPr id="86" name="Google Shape;86;p2"/>
          <p:cNvSpPr/>
          <p:nvPr/>
        </p:nvSpPr>
        <p:spPr>
          <a:xfrm>
            <a:off x="6876288" y="2962656"/>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Front-End — სტრუქტურა და დემო</a:t>
            </a:r>
            <a:endParaRPr b="0" i="0" sz="1350" u="none" cap="none" strike="noStrike">
              <a:solidFill>
                <a:schemeClr val="dk1"/>
              </a:solidFill>
              <a:latin typeface="Calibri"/>
              <a:ea typeface="Calibri"/>
              <a:cs typeface="Calibri"/>
              <a:sym typeface="Calibri"/>
            </a:endParaRPr>
          </a:p>
        </p:txBody>
      </p:sp>
      <p:sp>
        <p:nvSpPr>
          <p:cNvPr id="87" name="Google Shape;87;p2"/>
          <p:cNvSpPr/>
          <p:nvPr/>
        </p:nvSpPr>
        <p:spPr>
          <a:xfrm>
            <a:off x="6309360" y="3547872"/>
            <a:ext cx="402336" cy="402336"/>
          </a:xfrm>
          <a:prstGeom prst="roundRect">
            <a:avLst>
              <a:gd fmla="val 13636"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6309360" y="3547872"/>
            <a:ext cx="402336" cy="4023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A15A"/>
              </a:buClr>
              <a:buSzPts val="1250"/>
              <a:buFont typeface="Cambria"/>
              <a:buNone/>
            </a:pPr>
            <a:r>
              <a:rPr b="1" i="0" lang="en-US" sz="1250" u="none" cap="none" strike="noStrike">
                <a:solidFill>
                  <a:srgbClr val="C9A15A"/>
                </a:solidFill>
                <a:latin typeface="Cambria"/>
                <a:ea typeface="Cambria"/>
                <a:cs typeface="Cambria"/>
                <a:sym typeface="Cambria"/>
              </a:rPr>
              <a:t>11</a:t>
            </a:r>
            <a:endParaRPr b="0" i="0" sz="1250" u="none" cap="none" strike="noStrike">
              <a:solidFill>
                <a:schemeClr val="dk1"/>
              </a:solidFill>
              <a:latin typeface="Calibri"/>
              <a:ea typeface="Calibri"/>
              <a:cs typeface="Calibri"/>
              <a:sym typeface="Calibri"/>
            </a:endParaRPr>
          </a:p>
        </p:txBody>
      </p:sp>
      <p:sp>
        <p:nvSpPr>
          <p:cNvPr id="89" name="Google Shape;89;p2"/>
          <p:cNvSpPr/>
          <p:nvPr/>
        </p:nvSpPr>
        <p:spPr>
          <a:xfrm>
            <a:off x="6876288" y="3529584"/>
            <a:ext cx="47548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350"/>
              <a:buFont typeface="Calibri"/>
              <a:buNone/>
            </a:pPr>
            <a:r>
              <a:rPr b="0" i="0" lang="en-US" sz="1350" u="none" cap="none" strike="noStrike">
                <a:solidFill>
                  <a:srgbClr val="2B2B28"/>
                </a:solidFill>
                <a:latin typeface="Calibri"/>
                <a:ea typeface="Calibri"/>
                <a:cs typeface="Calibri"/>
                <a:sym typeface="Calibri"/>
              </a:rPr>
              <a:t>ტექნოლოგიები, გამოწვევები და დასკვნა</a:t>
            </a:r>
            <a:endParaRPr b="0" i="0" sz="1350" u="none" cap="none" strike="noStrike">
              <a:solidFill>
                <a:schemeClr val="dk1"/>
              </a:solidFill>
              <a:latin typeface="Calibri"/>
              <a:ea typeface="Calibri"/>
              <a:cs typeface="Calibri"/>
              <a:sym typeface="Calibri"/>
            </a:endParaRPr>
          </a:p>
        </p:txBody>
      </p:sp>
      <p:sp>
        <p:nvSpPr>
          <p:cNvPr id="90" name="Google Shape;90;p2"/>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3"/>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პრობლემა და მიზანი</a:t>
            </a:r>
            <a:endParaRPr b="0" i="0" sz="2800" u="none" cap="none" strike="noStrike">
              <a:solidFill>
                <a:schemeClr val="dk1"/>
              </a:solidFill>
              <a:latin typeface="Calibri"/>
              <a:ea typeface="Calibri"/>
              <a:cs typeface="Calibri"/>
              <a:sym typeface="Calibri"/>
            </a:endParaRPr>
          </a:p>
        </p:txBody>
      </p:sp>
      <p:sp>
        <p:nvSpPr>
          <p:cNvPr id="97" name="Google Shape;97;p3"/>
          <p:cNvSpPr/>
          <p:nvPr/>
        </p:nvSpPr>
        <p:spPr>
          <a:xfrm>
            <a:off x="548640" y="1417320"/>
            <a:ext cx="1463040" cy="1463040"/>
          </a:xfrm>
          <a:prstGeom prst="ellipse">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arget.png" id="98" name="Google Shape;98;p3"/>
          <p:cNvPicPr preferRelativeResize="0"/>
          <p:nvPr/>
        </p:nvPicPr>
        <p:blipFill rotWithShape="1">
          <a:blip r:embed="rId3">
            <a:alphaModFix/>
          </a:blip>
          <a:srcRect b="0" l="0" r="0" t="0"/>
          <a:stretch/>
        </p:blipFill>
        <p:spPr>
          <a:xfrm>
            <a:off x="896112" y="1764792"/>
            <a:ext cx="768096" cy="768096"/>
          </a:xfrm>
          <a:prstGeom prst="rect">
            <a:avLst/>
          </a:prstGeom>
          <a:noFill/>
          <a:ln>
            <a:noFill/>
          </a:ln>
        </p:spPr>
      </p:pic>
      <p:sp>
        <p:nvSpPr>
          <p:cNvPr id="99" name="Google Shape;99;p3"/>
          <p:cNvSpPr/>
          <p:nvPr/>
        </p:nvSpPr>
        <p:spPr>
          <a:xfrm>
            <a:off x="2331720" y="1463040"/>
            <a:ext cx="859536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500"/>
              <a:buFont typeface="Calibri"/>
              <a:buNone/>
            </a:pPr>
            <a:r>
              <a:rPr b="0" i="0" lang="en-US" sz="1500" u="none" cap="none" strike="noStrike">
                <a:solidFill>
                  <a:srgbClr val="2B2B28"/>
                </a:solidFill>
                <a:latin typeface="Calibri"/>
                <a:ea typeface="Calibri"/>
                <a:cs typeface="Calibri"/>
                <a:sym typeface="Calibri"/>
              </a:rPr>
              <a:t>სასტუმროებს სჭირდებათ სისტემა, რომელიც ავტომატურად მართავს ოთახების ხელმისაწვდომობას, ითვლის ფასს სეზონურობის მიხედვით, აკონტროლებს მომხმარებლის ბიუჯეტს და ინახავს ყველა ოპერაციის ისტორიას — ხელით მართვის ნაცვლად.</a:t>
            </a:r>
            <a:endParaRPr b="0" i="0" sz="1500" u="none" cap="none" strike="noStrike">
              <a:solidFill>
                <a:schemeClr val="dk1"/>
              </a:solidFill>
              <a:latin typeface="Calibri"/>
              <a:ea typeface="Calibri"/>
              <a:cs typeface="Calibri"/>
              <a:sym typeface="Calibri"/>
            </a:endParaRPr>
          </a:p>
        </p:txBody>
      </p:sp>
      <p:sp>
        <p:nvSpPr>
          <p:cNvPr id="100" name="Google Shape;100;p3"/>
          <p:cNvSpPr/>
          <p:nvPr/>
        </p:nvSpPr>
        <p:spPr>
          <a:xfrm>
            <a:off x="548640" y="3108960"/>
            <a:ext cx="457200" cy="45720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navy.png" id="101" name="Google Shape;101;p3"/>
          <p:cNvPicPr preferRelativeResize="0"/>
          <p:nvPr/>
        </p:nvPicPr>
        <p:blipFill rotWithShape="1">
          <a:blip r:embed="rId4">
            <a:alphaModFix/>
          </a:blip>
          <a:srcRect b="0" l="0" r="0" t="0"/>
          <a:stretch/>
        </p:blipFill>
        <p:spPr>
          <a:xfrm>
            <a:off x="658368" y="3218688"/>
            <a:ext cx="237744" cy="237744"/>
          </a:xfrm>
          <a:prstGeom prst="rect">
            <a:avLst/>
          </a:prstGeom>
          <a:noFill/>
          <a:ln>
            <a:noFill/>
          </a:ln>
        </p:spPr>
      </p:pic>
      <p:sp>
        <p:nvSpPr>
          <p:cNvPr id="102" name="Google Shape;102;p3"/>
          <p:cNvSpPr/>
          <p:nvPr/>
        </p:nvSpPr>
        <p:spPr>
          <a:xfrm>
            <a:off x="1234440" y="3072384"/>
            <a:ext cx="96012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400"/>
              <a:buFont typeface="Calibri"/>
              <a:buNone/>
            </a:pPr>
            <a:r>
              <a:rPr b="0" i="0" lang="en-US" sz="1400" u="none" cap="none" strike="noStrike">
                <a:solidFill>
                  <a:srgbClr val="2B2B28"/>
                </a:solidFill>
                <a:latin typeface="Calibri"/>
                <a:ea typeface="Calibri"/>
                <a:cs typeface="Calibri"/>
                <a:sym typeface="Calibri"/>
              </a:rPr>
              <a:t>ოთახების, მომხმარებლების და დაჯავშნების მართვა ერთ სისტემაში</a:t>
            </a:r>
            <a:endParaRPr b="0" i="0" sz="1400" u="none" cap="none" strike="noStrike">
              <a:solidFill>
                <a:schemeClr val="dk1"/>
              </a:solidFill>
              <a:latin typeface="Calibri"/>
              <a:ea typeface="Calibri"/>
              <a:cs typeface="Calibri"/>
              <a:sym typeface="Calibri"/>
            </a:endParaRPr>
          </a:p>
        </p:txBody>
      </p:sp>
      <p:sp>
        <p:nvSpPr>
          <p:cNvPr id="103" name="Google Shape;103;p3"/>
          <p:cNvSpPr/>
          <p:nvPr/>
        </p:nvSpPr>
        <p:spPr>
          <a:xfrm>
            <a:off x="548640" y="3767328"/>
            <a:ext cx="457200" cy="45720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navy.png" id="104" name="Google Shape;104;p3"/>
          <p:cNvPicPr preferRelativeResize="0"/>
          <p:nvPr/>
        </p:nvPicPr>
        <p:blipFill rotWithShape="1">
          <a:blip r:embed="rId4">
            <a:alphaModFix/>
          </a:blip>
          <a:srcRect b="0" l="0" r="0" t="0"/>
          <a:stretch/>
        </p:blipFill>
        <p:spPr>
          <a:xfrm>
            <a:off x="658368" y="3877056"/>
            <a:ext cx="237744" cy="237744"/>
          </a:xfrm>
          <a:prstGeom prst="rect">
            <a:avLst/>
          </a:prstGeom>
          <a:noFill/>
          <a:ln>
            <a:noFill/>
          </a:ln>
        </p:spPr>
      </p:pic>
      <p:sp>
        <p:nvSpPr>
          <p:cNvPr id="105" name="Google Shape;105;p3"/>
          <p:cNvSpPr/>
          <p:nvPr/>
        </p:nvSpPr>
        <p:spPr>
          <a:xfrm>
            <a:off x="1234440" y="3730752"/>
            <a:ext cx="96012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400"/>
              <a:buFont typeface="Calibri"/>
              <a:buNone/>
            </a:pPr>
            <a:r>
              <a:rPr b="0" i="0" lang="en-US" sz="1400" u="none" cap="none" strike="noStrike">
                <a:solidFill>
                  <a:srgbClr val="2B2B28"/>
                </a:solidFill>
                <a:latin typeface="Calibri"/>
                <a:ea typeface="Calibri"/>
                <a:cs typeface="Calibri"/>
                <a:sym typeface="Calibri"/>
              </a:rPr>
              <a:t>ბიზნეს ლოგიკის სისწორის გარანტია ავტომატური ტესტებით</a:t>
            </a:r>
            <a:endParaRPr b="0" i="0" sz="1400" u="none" cap="none" strike="noStrike">
              <a:solidFill>
                <a:schemeClr val="dk1"/>
              </a:solidFill>
              <a:latin typeface="Calibri"/>
              <a:ea typeface="Calibri"/>
              <a:cs typeface="Calibri"/>
              <a:sym typeface="Calibri"/>
            </a:endParaRPr>
          </a:p>
        </p:txBody>
      </p:sp>
      <p:sp>
        <p:nvSpPr>
          <p:cNvPr id="106" name="Google Shape;106;p3"/>
          <p:cNvSpPr/>
          <p:nvPr/>
        </p:nvSpPr>
        <p:spPr>
          <a:xfrm>
            <a:off x="548640" y="4425696"/>
            <a:ext cx="457200" cy="45720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navy.png" id="107" name="Google Shape;107;p3"/>
          <p:cNvPicPr preferRelativeResize="0"/>
          <p:nvPr/>
        </p:nvPicPr>
        <p:blipFill rotWithShape="1">
          <a:blip r:embed="rId4">
            <a:alphaModFix/>
          </a:blip>
          <a:srcRect b="0" l="0" r="0" t="0"/>
          <a:stretch/>
        </p:blipFill>
        <p:spPr>
          <a:xfrm>
            <a:off x="658368" y="4535424"/>
            <a:ext cx="237744" cy="237744"/>
          </a:xfrm>
          <a:prstGeom prst="rect">
            <a:avLst/>
          </a:prstGeom>
          <a:noFill/>
          <a:ln>
            <a:noFill/>
          </a:ln>
        </p:spPr>
      </p:pic>
      <p:sp>
        <p:nvSpPr>
          <p:cNvPr id="108" name="Google Shape;108;p3"/>
          <p:cNvSpPr/>
          <p:nvPr/>
        </p:nvSpPr>
        <p:spPr>
          <a:xfrm>
            <a:off x="1234440" y="4389120"/>
            <a:ext cx="96012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400"/>
              <a:buFont typeface="Calibri"/>
              <a:buNone/>
            </a:pPr>
            <a:r>
              <a:rPr b="0" i="0" lang="en-US" sz="1400" u="none" cap="none" strike="noStrike">
                <a:solidFill>
                  <a:srgbClr val="2B2B28"/>
                </a:solidFill>
                <a:latin typeface="Calibri"/>
                <a:ea typeface="Calibri"/>
                <a:cs typeface="Calibri"/>
                <a:sym typeface="Calibri"/>
              </a:rPr>
              <a:t>გამჭვირვალობა — ყველა მოქმედება ილოგება და შემოწმებადია</a:t>
            </a:r>
            <a:endParaRPr b="0" i="0" sz="1400" u="none" cap="none" strike="noStrike">
              <a:solidFill>
                <a:schemeClr val="dk1"/>
              </a:solidFill>
              <a:latin typeface="Calibri"/>
              <a:ea typeface="Calibri"/>
              <a:cs typeface="Calibri"/>
              <a:sym typeface="Calibri"/>
            </a:endParaRPr>
          </a:p>
        </p:txBody>
      </p:sp>
      <p:sp>
        <p:nvSpPr>
          <p:cNvPr id="109" name="Google Shape;109;p3"/>
          <p:cNvSpPr/>
          <p:nvPr/>
        </p:nvSpPr>
        <p:spPr>
          <a:xfrm>
            <a:off x="548640" y="5084064"/>
            <a:ext cx="457200" cy="45720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navy.png" id="110" name="Google Shape;110;p3"/>
          <p:cNvPicPr preferRelativeResize="0"/>
          <p:nvPr/>
        </p:nvPicPr>
        <p:blipFill rotWithShape="1">
          <a:blip r:embed="rId4">
            <a:alphaModFix/>
          </a:blip>
          <a:srcRect b="0" l="0" r="0" t="0"/>
          <a:stretch/>
        </p:blipFill>
        <p:spPr>
          <a:xfrm>
            <a:off x="658368" y="5193792"/>
            <a:ext cx="237744" cy="237744"/>
          </a:xfrm>
          <a:prstGeom prst="rect">
            <a:avLst/>
          </a:prstGeom>
          <a:noFill/>
          <a:ln>
            <a:noFill/>
          </a:ln>
        </p:spPr>
      </p:pic>
      <p:sp>
        <p:nvSpPr>
          <p:cNvPr id="111" name="Google Shape;111;p3"/>
          <p:cNvSpPr/>
          <p:nvPr/>
        </p:nvSpPr>
        <p:spPr>
          <a:xfrm>
            <a:off x="1234440" y="5047488"/>
            <a:ext cx="96012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400"/>
              <a:buFont typeface="Calibri"/>
              <a:buNone/>
            </a:pPr>
            <a:r>
              <a:rPr lang="en-US">
                <a:solidFill>
                  <a:srgbClr val="2B2B28"/>
                </a:solidFill>
                <a:latin typeface="Calibri"/>
                <a:ea typeface="Calibri"/>
                <a:cs typeface="Calibri"/>
                <a:sym typeface="Calibri"/>
              </a:rPr>
              <a:t>ვიზუალურად აღქმადი</a:t>
            </a:r>
            <a:r>
              <a:rPr b="0" i="0" lang="en-US" sz="1400" u="none" cap="none" strike="noStrike">
                <a:solidFill>
                  <a:srgbClr val="2B2B28"/>
                </a:solidFill>
                <a:latin typeface="Calibri"/>
                <a:ea typeface="Calibri"/>
                <a:cs typeface="Calibri"/>
                <a:sym typeface="Calibri"/>
              </a:rPr>
              <a:t> ინტერფეისი მომხმარებლისთვის</a:t>
            </a:r>
            <a:endParaRPr b="0" i="0" sz="1400" u="none" cap="none" strike="noStrike">
              <a:solidFill>
                <a:schemeClr val="dk1"/>
              </a:solidFill>
              <a:latin typeface="Calibri"/>
              <a:ea typeface="Calibri"/>
              <a:cs typeface="Calibri"/>
              <a:sym typeface="Calibri"/>
            </a:endParaRPr>
          </a:p>
        </p:txBody>
      </p:sp>
      <p:sp>
        <p:nvSpPr>
          <p:cNvPr id="112" name="Google Shape;112;p3"/>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4"/>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პროექტის მიმოხილვა</a:t>
            </a:r>
            <a:endParaRPr b="0" i="0" sz="2800" u="none" cap="none" strike="noStrike">
              <a:solidFill>
                <a:schemeClr val="dk1"/>
              </a:solidFill>
              <a:latin typeface="Calibri"/>
              <a:ea typeface="Calibri"/>
              <a:cs typeface="Calibri"/>
              <a:sym typeface="Calibri"/>
            </a:endParaRPr>
          </a:p>
        </p:txBody>
      </p:sp>
      <p:sp>
        <p:nvSpPr>
          <p:cNvPr id="119" name="Google Shape;119;p4"/>
          <p:cNvSpPr/>
          <p:nvPr/>
        </p:nvSpPr>
        <p:spPr>
          <a:xfrm>
            <a:off x="548640" y="960120"/>
            <a:ext cx="10515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400"/>
              <a:buFont typeface="Calibri"/>
              <a:buNone/>
            </a:pPr>
            <a:r>
              <a:rPr b="0" i="0" lang="en-US" sz="1400" u="none" cap="none" strike="noStrike">
                <a:solidFill>
                  <a:srgbClr val="6B665A"/>
                </a:solidFill>
                <a:latin typeface="Calibri"/>
                <a:ea typeface="Calibri"/>
                <a:cs typeface="Calibri"/>
                <a:sym typeface="Calibri"/>
              </a:rPr>
              <a:t>მრავალფუნქციური სასტუმროს დაჯავშნის სისტემა, რომელიც აერთიანებს ოთახების მართვას, გადახდას, დინამიურ ფასწარმოქმნას და ანგარიშების მართვას ერთ პროექტში.</a:t>
            </a:r>
            <a:endParaRPr b="0" i="0" sz="1400" u="none" cap="none" strike="noStrike">
              <a:solidFill>
                <a:schemeClr val="dk1"/>
              </a:solidFill>
              <a:latin typeface="Calibri"/>
              <a:ea typeface="Calibri"/>
              <a:cs typeface="Calibri"/>
              <a:sym typeface="Calibri"/>
            </a:endParaRPr>
          </a:p>
        </p:txBody>
      </p:sp>
      <p:sp>
        <p:nvSpPr>
          <p:cNvPr id="120" name="Google Shape;120;p4"/>
          <p:cNvSpPr/>
          <p:nvPr/>
        </p:nvSpPr>
        <p:spPr>
          <a:xfrm>
            <a:off x="548640" y="1920240"/>
            <a:ext cx="2526030" cy="3566160"/>
          </a:xfrm>
          <a:prstGeom prst="roundRect">
            <a:avLst>
              <a:gd fmla="val 2896" name="adj"/>
            </a:avLst>
          </a:prstGeom>
          <a:solidFill>
            <a:srgbClr val="F7F4EE"/>
          </a:solidFill>
          <a:ln cap="flat" cmpd="sng" w="12700">
            <a:solidFill>
              <a:srgbClr val="E2DCC9"/>
            </a:solidFill>
            <a:prstDash val="solid"/>
            <a:round/>
            <a:headEnd len="sm" w="sm" type="none"/>
            <a:tailEnd len="sm" w="sm" type="none"/>
          </a:ln>
          <a:effectLst>
            <a:outerShdw blurRad="76200" rotWithShape="0" algn="bl" dir="5400000" dist="25400">
              <a:srgbClr val="1B2A4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1400175" y="2240280"/>
            <a:ext cx="822960" cy="82296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ed_navy.png" id="122" name="Google Shape;122;p4"/>
          <p:cNvPicPr preferRelativeResize="0"/>
          <p:nvPr/>
        </p:nvPicPr>
        <p:blipFill rotWithShape="1">
          <a:blip r:embed="rId3">
            <a:alphaModFix/>
          </a:blip>
          <a:srcRect b="0" l="0" r="0" t="0"/>
          <a:stretch/>
        </p:blipFill>
        <p:spPr>
          <a:xfrm>
            <a:off x="1601343" y="2441448"/>
            <a:ext cx="420624" cy="420624"/>
          </a:xfrm>
          <a:prstGeom prst="rect">
            <a:avLst/>
          </a:prstGeom>
          <a:noFill/>
          <a:ln>
            <a:noFill/>
          </a:ln>
        </p:spPr>
      </p:pic>
      <p:sp>
        <p:nvSpPr>
          <p:cNvPr id="123" name="Google Shape;123;p4"/>
          <p:cNvSpPr/>
          <p:nvPr/>
        </p:nvSpPr>
        <p:spPr>
          <a:xfrm>
            <a:off x="685800" y="3291840"/>
            <a:ext cx="225171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ოთახების მართვა</a:t>
            </a:r>
            <a:endParaRPr b="0" i="0" sz="1500" u="none" cap="none" strike="noStrike">
              <a:solidFill>
                <a:schemeClr val="dk1"/>
              </a:solidFill>
              <a:latin typeface="Calibri"/>
              <a:ea typeface="Calibri"/>
              <a:cs typeface="Calibri"/>
              <a:sym typeface="Calibri"/>
            </a:endParaRPr>
          </a:p>
        </p:txBody>
      </p:sp>
      <p:sp>
        <p:nvSpPr>
          <p:cNvPr id="124" name="Google Shape;124;p4"/>
          <p:cNvSpPr/>
          <p:nvPr/>
        </p:nvSpPr>
        <p:spPr>
          <a:xfrm>
            <a:off x="749808" y="3840480"/>
            <a:ext cx="2123694" cy="14630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B665A"/>
              </a:buClr>
              <a:buSzPts val="1150"/>
              <a:buFont typeface="Calibri"/>
              <a:buNone/>
            </a:pPr>
            <a:r>
              <a:rPr b="0" i="0" lang="en-US" sz="1150" u="none" cap="none" strike="noStrike">
                <a:solidFill>
                  <a:srgbClr val="6B665A"/>
                </a:solidFill>
                <a:latin typeface="Calibri"/>
                <a:ea typeface="Calibri"/>
                <a:cs typeface="Calibri"/>
                <a:sym typeface="Calibri"/>
              </a:rPr>
              <a:t>დაჯავშნა, გათავისუფლება, ტიპისა და ხელმისაწვდომობის მიხედვით ფილტრი</a:t>
            </a:r>
            <a:endParaRPr b="0" i="0" sz="1150" u="none" cap="none" strike="noStrike">
              <a:solidFill>
                <a:schemeClr val="dk1"/>
              </a:solidFill>
              <a:latin typeface="Calibri"/>
              <a:ea typeface="Calibri"/>
              <a:cs typeface="Calibri"/>
              <a:sym typeface="Calibri"/>
            </a:endParaRPr>
          </a:p>
        </p:txBody>
      </p:sp>
      <p:sp>
        <p:nvSpPr>
          <p:cNvPr id="125" name="Google Shape;125;p4"/>
          <p:cNvSpPr/>
          <p:nvPr/>
        </p:nvSpPr>
        <p:spPr>
          <a:xfrm>
            <a:off x="3394710" y="1920240"/>
            <a:ext cx="2526030" cy="3566160"/>
          </a:xfrm>
          <a:prstGeom prst="roundRect">
            <a:avLst>
              <a:gd fmla="val 2896" name="adj"/>
            </a:avLst>
          </a:prstGeom>
          <a:solidFill>
            <a:srgbClr val="F7F4EE"/>
          </a:solidFill>
          <a:ln cap="flat" cmpd="sng" w="12700">
            <a:solidFill>
              <a:srgbClr val="E2DCC9"/>
            </a:solidFill>
            <a:prstDash val="solid"/>
            <a:round/>
            <a:headEnd len="sm" w="sm" type="none"/>
            <a:tailEnd len="sm" w="sm" type="none"/>
          </a:ln>
          <a:effectLst>
            <a:outerShdw blurRad="76200" rotWithShape="0" algn="bl" dir="5400000" dist="25400">
              <a:srgbClr val="1B2A4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4246245" y="2240280"/>
            <a:ext cx="822960" cy="82296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ins_navy.png" id="127" name="Google Shape;127;p4"/>
          <p:cNvPicPr preferRelativeResize="0"/>
          <p:nvPr/>
        </p:nvPicPr>
        <p:blipFill rotWithShape="1">
          <a:blip r:embed="rId4">
            <a:alphaModFix/>
          </a:blip>
          <a:srcRect b="0" l="0" r="0" t="0"/>
          <a:stretch/>
        </p:blipFill>
        <p:spPr>
          <a:xfrm>
            <a:off x="4447413" y="2441448"/>
            <a:ext cx="420624" cy="420624"/>
          </a:xfrm>
          <a:prstGeom prst="rect">
            <a:avLst/>
          </a:prstGeom>
          <a:noFill/>
          <a:ln>
            <a:noFill/>
          </a:ln>
        </p:spPr>
      </p:pic>
      <p:sp>
        <p:nvSpPr>
          <p:cNvPr id="128" name="Google Shape;128;p4"/>
          <p:cNvSpPr/>
          <p:nvPr/>
        </p:nvSpPr>
        <p:spPr>
          <a:xfrm>
            <a:off x="3531870" y="3291840"/>
            <a:ext cx="225171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დინამიური ფასი</a:t>
            </a:r>
            <a:endParaRPr b="0" i="0" sz="1500" u="none" cap="none" strike="noStrike">
              <a:solidFill>
                <a:schemeClr val="dk1"/>
              </a:solidFill>
              <a:latin typeface="Calibri"/>
              <a:ea typeface="Calibri"/>
              <a:cs typeface="Calibri"/>
              <a:sym typeface="Calibri"/>
            </a:endParaRPr>
          </a:p>
        </p:txBody>
      </p:sp>
      <p:sp>
        <p:nvSpPr>
          <p:cNvPr id="129" name="Google Shape;129;p4"/>
          <p:cNvSpPr/>
          <p:nvPr/>
        </p:nvSpPr>
        <p:spPr>
          <a:xfrm>
            <a:off x="3595878" y="3840480"/>
            <a:ext cx="2123694" cy="14630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B665A"/>
              </a:buClr>
              <a:buSzPts val="1150"/>
              <a:buFont typeface="Calibri"/>
              <a:buNone/>
            </a:pPr>
            <a:r>
              <a:rPr b="0" i="0" lang="en-US" sz="1150" u="none" cap="none" strike="noStrike">
                <a:solidFill>
                  <a:srgbClr val="6B665A"/>
                </a:solidFill>
                <a:latin typeface="Calibri"/>
                <a:ea typeface="Calibri"/>
                <a:cs typeface="Calibri"/>
                <a:sym typeface="Calibri"/>
              </a:rPr>
              <a:t>ფასი გამოითვლება ღამეების რაოდენობითა და სეზონურობით</a:t>
            </a:r>
            <a:endParaRPr b="0" i="0" sz="1150" u="none" cap="none" strike="noStrike">
              <a:solidFill>
                <a:schemeClr val="dk1"/>
              </a:solidFill>
              <a:latin typeface="Calibri"/>
              <a:ea typeface="Calibri"/>
              <a:cs typeface="Calibri"/>
              <a:sym typeface="Calibri"/>
            </a:endParaRPr>
          </a:p>
        </p:txBody>
      </p:sp>
      <p:sp>
        <p:nvSpPr>
          <p:cNvPr id="130" name="Google Shape;130;p4"/>
          <p:cNvSpPr/>
          <p:nvPr/>
        </p:nvSpPr>
        <p:spPr>
          <a:xfrm>
            <a:off x="6240780" y="1920240"/>
            <a:ext cx="2526030" cy="3566160"/>
          </a:xfrm>
          <a:prstGeom prst="roundRect">
            <a:avLst>
              <a:gd fmla="val 2896" name="adj"/>
            </a:avLst>
          </a:prstGeom>
          <a:solidFill>
            <a:srgbClr val="F7F4EE"/>
          </a:solidFill>
          <a:ln cap="flat" cmpd="sng" w="12700">
            <a:solidFill>
              <a:srgbClr val="E2DCC9"/>
            </a:solidFill>
            <a:prstDash val="solid"/>
            <a:round/>
            <a:headEnd len="sm" w="sm" type="none"/>
            <a:tailEnd len="sm" w="sm" type="none"/>
          </a:ln>
          <a:effectLst>
            <a:outerShdw blurRad="76200" rotWithShape="0" algn="bl" dir="5400000" dist="25400">
              <a:srgbClr val="1B2A4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7092315" y="2240280"/>
            <a:ext cx="822960" cy="82296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key_navy.png" id="132" name="Google Shape;132;p4"/>
          <p:cNvPicPr preferRelativeResize="0"/>
          <p:nvPr/>
        </p:nvPicPr>
        <p:blipFill rotWithShape="1">
          <a:blip r:embed="rId5">
            <a:alphaModFix/>
          </a:blip>
          <a:srcRect b="0" l="0" r="0" t="0"/>
          <a:stretch/>
        </p:blipFill>
        <p:spPr>
          <a:xfrm>
            <a:off x="7293483" y="2441448"/>
            <a:ext cx="420624" cy="420624"/>
          </a:xfrm>
          <a:prstGeom prst="rect">
            <a:avLst/>
          </a:prstGeom>
          <a:noFill/>
          <a:ln>
            <a:noFill/>
          </a:ln>
        </p:spPr>
      </p:pic>
      <p:sp>
        <p:nvSpPr>
          <p:cNvPr id="133" name="Google Shape;133;p4"/>
          <p:cNvSpPr/>
          <p:nvPr/>
        </p:nvSpPr>
        <p:spPr>
          <a:xfrm>
            <a:off x="6377940" y="3291840"/>
            <a:ext cx="225171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გადახდა და ბალანსი</a:t>
            </a:r>
            <a:endParaRPr b="0" i="0" sz="1500" u="none" cap="none" strike="noStrike">
              <a:solidFill>
                <a:schemeClr val="dk1"/>
              </a:solidFill>
              <a:latin typeface="Calibri"/>
              <a:ea typeface="Calibri"/>
              <a:cs typeface="Calibri"/>
              <a:sym typeface="Calibri"/>
            </a:endParaRPr>
          </a:p>
        </p:txBody>
      </p:sp>
      <p:sp>
        <p:nvSpPr>
          <p:cNvPr id="134" name="Google Shape;134;p4"/>
          <p:cNvSpPr/>
          <p:nvPr/>
        </p:nvSpPr>
        <p:spPr>
          <a:xfrm>
            <a:off x="6441948" y="3840480"/>
            <a:ext cx="2123694" cy="14630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B665A"/>
              </a:buClr>
              <a:buSzPts val="1150"/>
              <a:buFont typeface="Calibri"/>
              <a:buNone/>
            </a:pPr>
            <a:r>
              <a:rPr b="0" i="0" lang="en-US" sz="1150" u="none" cap="none" strike="noStrike">
                <a:solidFill>
                  <a:srgbClr val="6B665A"/>
                </a:solidFill>
                <a:latin typeface="Calibri"/>
                <a:ea typeface="Calibri"/>
                <a:cs typeface="Calibri"/>
                <a:sym typeface="Calibri"/>
              </a:rPr>
              <a:t>ბიუჯეტის შემოწმება, საკომისიო ქულების დარიცხვა</a:t>
            </a:r>
            <a:endParaRPr b="0" i="0" sz="1150" u="none" cap="none" strike="noStrike">
              <a:solidFill>
                <a:schemeClr val="dk1"/>
              </a:solidFill>
              <a:latin typeface="Calibri"/>
              <a:ea typeface="Calibri"/>
              <a:cs typeface="Calibri"/>
              <a:sym typeface="Calibri"/>
            </a:endParaRPr>
          </a:p>
        </p:txBody>
      </p:sp>
      <p:sp>
        <p:nvSpPr>
          <p:cNvPr id="135" name="Google Shape;135;p4"/>
          <p:cNvSpPr/>
          <p:nvPr/>
        </p:nvSpPr>
        <p:spPr>
          <a:xfrm>
            <a:off x="9086850" y="1920240"/>
            <a:ext cx="2526030" cy="3566160"/>
          </a:xfrm>
          <a:prstGeom prst="roundRect">
            <a:avLst>
              <a:gd fmla="val 2896" name="adj"/>
            </a:avLst>
          </a:prstGeom>
          <a:solidFill>
            <a:srgbClr val="F7F4EE"/>
          </a:solidFill>
          <a:ln cap="flat" cmpd="sng" w="12700">
            <a:solidFill>
              <a:srgbClr val="E2DCC9"/>
            </a:solidFill>
            <a:prstDash val="solid"/>
            <a:round/>
            <a:headEnd len="sm" w="sm" type="none"/>
            <a:tailEnd len="sm" w="sm" type="none"/>
          </a:ln>
          <a:effectLst>
            <a:outerShdw blurRad="76200" rotWithShape="0" algn="bl" dir="5400000" dist="25400">
              <a:srgbClr val="1B2A41">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9938385" y="2240280"/>
            <a:ext cx="822960" cy="82296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lipboard_navy.png" id="137" name="Google Shape;137;p4"/>
          <p:cNvPicPr preferRelativeResize="0"/>
          <p:nvPr/>
        </p:nvPicPr>
        <p:blipFill rotWithShape="1">
          <a:blip r:embed="rId6">
            <a:alphaModFix/>
          </a:blip>
          <a:srcRect b="0" l="0" r="0" t="0"/>
          <a:stretch/>
        </p:blipFill>
        <p:spPr>
          <a:xfrm>
            <a:off x="10139553" y="2441448"/>
            <a:ext cx="420624" cy="420624"/>
          </a:xfrm>
          <a:prstGeom prst="rect">
            <a:avLst/>
          </a:prstGeom>
          <a:noFill/>
          <a:ln>
            <a:noFill/>
          </a:ln>
        </p:spPr>
      </p:pic>
      <p:sp>
        <p:nvSpPr>
          <p:cNvPr id="138" name="Google Shape;138;p4"/>
          <p:cNvSpPr/>
          <p:nvPr/>
        </p:nvSpPr>
        <p:spPr>
          <a:xfrm>
            <a:off x="9224010" y="3291840"/>
            <a:ext cx="225171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ლოგირება</a:t>
            </a:r>
            <a:endParaRPr b="0" i="0" sz="1500" u="none" cap="none" strike="noStrike">
              <a:solidFill>
                <a:schemeClr val="dk1"/>
              </a:solidFill>
              <a:latin typeface="Calibri"/>
              <a:ea typeface="Calibri"/>
              <a:cs typeface="Calibri"/>
              <a:sym typeface="Calibri"/>
            </a:endParaRPr>
          </a:p>
        </p:txBody>
      </p:sp>
      <p:sp>
        <p:nvSpPr>
          <p:cNvPr id="139" name="Google Shape;139;p4"/>
          <p:cNvSpPr/>
          <p:nvPr/>
        </p:nvSpPr>
        <p:spPr>
          <a:xfrm>
            <a:off x="9288018" y="3840480"/>
            <a:ext cx="2123694" cy="14630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B665A"/>
              </a:buClr>
              <a:buSzPts val="1150"/>
              <a:buFont typeface="Calibri"/>
              <a:buNone/>
            </a:pPr>
            <a:r>
              <a:rPr b="0" i="0" lang="en-US" sz="1150" u="none" cap="none" strike="noStrike">
                <a:solidFill>
                  <a:srgbClr val="6B665A"/>
                </a:solidFill>
                <a:latin typeface="Calibri"/>
                <a:ea typeface="Calibri"/>
                <a:cs typeface="Calibri"/>
                <a:sym typeface="Calibri"/>
              </a:rPr>
              <a:t>ყველა ოპერაცია ინახება logging მოდულით ფაილში</a:t>
            </a:r>
            <a:endParaRPr b="0" i="0" sz="1150" u="none" cap="none" strike="noStrike">
              <a:solidFill>
                <a:schemeClr val="dk1"/>
              </a:solidFill>
              <a:latin typeface="Calibri"/>
              <a:ea typeface="Calibri"/>
              <a:cs typeface="Calibri"/>
              <a:sym typeface="Calibri"/>
            </a:endParaRPr>
          </a:p>
        </p:txBody>
      </p:sp>
      <p:sp>
        <p:nvSpPr>
          <p:cNvPr id="140" name="Google Shape;140;p4"/>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5"/>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არქიტექტურა — 3 ძირითადი კლასი</a:t>
            </a:r>
            <a:endParaRPr b="0" i="0" sz="2800" u="none" cap="none" strike="noStrike">
              <a:solidFill>
                <a:schemeClr val="dk1"/>
              </a:solidFill>
              <a:latin typeface="Calibri"/>
              <a:ea typeface="Calibri"/>
              <a:cs typeface="Calibri"/>
              <a:sym typeface="Calibri"/>
            </a:endParaRPr>
          </a:p>
        </p:txBody>
      </p:sp>
      <p:sp>
        <p:nvSpPr>
          <p:cNvPr id="147" name="Google Shape;147;p5"/>
          <p:cNvSpPr/>
          <p:nvPr/>
        </p:nvSpPr>
        <p:spPr>
          <a:xfrm>
            <a:off x="548640" y="1234440"/>
            <a:ext cx="3444240" cy="914400"/>
          </a:xfrm>
          <a:prstGeom prst="roundRect">
            <a:avLst>
              <a:gd fmla="val 6000"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731520" y="1399032"/>
            <a:ext cx="585216" cy="585216"/>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ed.png" id="149" name="Google Shape;149;p5"/>
          <p:cNvPicPr preferRelativeResize="0"/>
          <p:nvPr/>
        </p:nvPicPr>
        <p:blipFill rotWithShape="1">
          <a:blip r:embed="rId3">
            <a:alphaModFix/>
          </a:blip>
          <a:srcRect b="0" l="0" r="0" t="0"/>
          <a:stretch/>
        </p:blipFill>
        <p:spPr>
          <a:xfrm>
            <a:off x="859536" y="1527048"/>
            <a:ext cx="329184" cy="329184"/>
          </a:xfrm>
          <a:prstGeom prst="rect">
            <a:avLst/>
          </a:prstGeom>
          <a:noFill/>
          <a:ln>
            <a:noFill/>
          </a:ln>
        </p:spPr>
      </p:pic>
      <p:sp>
        <p:nvSpPr>
          <p:cNvPr id="150" name="Google Shape;150;p5"/>
          <p:cNvSpPr/>
          <p:nvPr/>
        </p:nvSpPr>
        <p:spPr>
          <a:xfrm>
            <a:off x="1463040" y="1234440"/>
            <a:ext cx="24384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Room</a:t>
            </a:r>
            <a:endParaRPr b="0" i="0" sz="1900" u="none" cap="none" strike="noStrike">
              <a:solidFill>
                <a:schemeClr val="dk1"/>
              </a:solidFill>
              <a:latin typeface="Calibri"/>
              <a:ea typeface="Calibri"/>
              <a:cs typeface="Calibri"/>
              <a:sym typeface="Calibri"/>
            </a:endParaRPr>
          </a:p>
        </p:txBody>
      </p:sp>
      <p:sp>
        <p:nvSpPr>
          <p:cNvPr id="151" name="Google Shape;151;p5"/>
          <p:cNvSpPr/>
          <p:nvPr/>
        </p:nvSpPr>
        <p:spPr>
          <a:xfrm>
            <a:off x="548640" y="2148840"/>
            <a:ext cx="3444240" cy="4114800"/>
          </a:xfrm>
          <a:prstGeom prst="rect">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731520" y="2286000"/>
            <a:ext cx="3078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ATTRIBUTES</a:t>
            </a:r>
            <a:endParaRPr b="0" i="0" sz="1050" u="none" cap="none" strike="noStrike">
              <a:solidFill>
                <a:schemeClr val="dk1"/>
              </a:solidFill>
              <a:latin typeface="Calibri"/>
              <a:ea typeface="Calibri"/>
              <a:cs typeface="Calibri"/>
              <a:sym typeface="Calibri"/>
            </a:endParaRPr>
          </a:p>
        </p:txBody>
      </p:sp>
      <p:sp>
        <p:nvSpPr>
          <p:cNvPr id="153" name="Google Shape;153;p5"/>
          <p:cNvSpPr/>
          <p:nvPr/>
        </p:nvSpPr>
        <p:spPr>
          <a:xfrm>
            <a:off x="731520" y="2606040"/>
            <a:ext cx="3078480" cy="1371600"/>
          </a:xfrm>
          <a:prstGeom prst="rect">
            <a:avLst/>
          </a:prstGeom>
          <a:noFill/>
          <a:ln>
            <a:noFill/>
          </a:ln>
        </p:spPr>
        <p:txBody>
          <a:bodyPr anchorCtr="0" anchor="ctr" bIns="45700" lIns="91425" spcFirstLastPara="1" rIns="91425" wrap="square" tIns="45700">
            <a:noAutofit/>
          </a:bodyPr>
          <a:lstStyle/>
          <a:p>
            <a:pPr indent="-127000" lvl="0" marL="127000" marR="0" rtl="0" algn="l">
              <a:spcBef>
                <a:spcPts val="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room_number</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room_type</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price_per_night</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is_available</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max_guests</a:t>
            </a:r>
            <a:endParaRPr b="0" i="0" sz="1150" u="none" cap="none" strike="noStrike">
              <a:solidFill>
                <a:schemeClr val="dk1"/>
              </a:solidFill>
              <a:latin typeface="Calibri"/>
              <a:ea typeface="Calibri"/>
              <a:cs typeface="Calibri"/>
              <a:sym typeface="Calibri"/>
            </a:endParaRPr>
          </a:p>
        </p:txBody>
      </p:sp>
      <p:sp>
        <p:nvSpPr>
          <p:cNvPr id="154" name="Google Shape;154;p5"/>
          <p:cNvSpPr/>
          <p:nvPr/>
        </p:nvSpPr>
        <p:spPr>
          <a:xfrm>
            <a:off x="731520" y="4114800"/>
            <a:ext cx="3078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METHODS</a:t>
            </a:r>
            <a:endParaRPr b="0" i="0" sz="1050" u="none" cap="none" strike="noStrike">
              <a:solidFill>
                <a:schemeClr val="dk1"/>
              </a:solidFill>
              <a:latin typeface="Calibri"/>
              <a:ea typeface="Calibri"/>
              <a:cs typeface="Calibri"/>
              <a:sym typeface="Calibri"/>
            </a:endParaRPr>
          </a:p>
        </p:txBody>
      </p:sp>
      <p:sp>
        <p:nvSpPr>
          <p:cNvPr id="155" name="Google Shape;155;p5"/>
          <p:cNvSpPr/>
          <p:nvPr/>
        </p:nvSpPr>
        <p:spPr>
          <a:xfrm>
            <a:off x="731520" y="4434840"/>
            <a:ext cx="3078480" cy="1737360"/>
          </a:xfrm>
          <a:prstGeom prst="rect">
            <a:avLst/>
          </a:prstGeom>
          <a:noFill/>
          <a:ln>
            <a:noFill/>
          </a:ln>
        </p:spPr>
        <p:txBody>
          <a:bodyPr anchorCtr="0" anchor="ctr" bIns="45700" lIns="91425" spcFirstLastPara="1" rIns="91425" wrap="square" tIns="45700">
            <a:noAutofit/>
          </a:bodyPr>
          <a:lstStyle/>
          <a:p>
            <a:pPr indent="-127000" lvl="0" marL="127000" marR="0" rtl="0" algn="l">
              <a:spcBef>
                <a:spcPts val="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book_room()</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release_room()</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calculate_price()</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__str__()</a:t>
            </a:r>
            <a:endParaRPr b="0" i="0" sz="1100" u="none" cap="none" strike="noStrike">
              <a:solidFill>
                <a:schemeClr val="dk1"/>
              </a:solidFill>
              <a:latin typeface="Calibri"/>
              <a:ea typeface="Calibri"/>
              <a:cs typeface="Calibri"/>
              <a:sym typeface="Calibri"/>
            </a:endParaRPr>
          </a:p>
        </p:txBody>
      </p:sp>
      <p:sp>
        <p:nvSpPr>
          <p:cNvPr id="156" name="Google Shape;156;p5"/>
          <p:cNvSpPr/>
          <p:nvPr/>
        </p:nvSpPr>
        <p:spPr>
          <a:xfrm>
            <a:off x="4358640" y="1234440"/>
            <a:ext cx="3444240" cy="914400"/>
          </a:xfrm>
          <a:prstGeom prst="roundRect">
            <a:avLst>
              <a:gd fmla="val 6000"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4541520" y="1399032"/>
            <a:ext cx="585216" cy="585216"/>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users.png" id="158" name="Google Shape;158;p5"/>
          <p:cNvPicPr preferRelativeResize="0"/>
          <p:nvPr/>
        </p:nvPicPr>
        <p:blipFill rotWithShape="1">
          <a:blip r:embed="rId4">
            <a:alphaModFix/>
          </a:blip>
          <a:srcRect b="0" l="0" r="0" t="0"/>
          <a:stretch/>
        </p:blipFill>
        <p:spPr>
          <a:xfrm>
            <a:off x="4669536" y="1527048"/>
            <a:ext cx="329184" cy="329184"/>
          </a:xfrm>
          <a:prstGeom prst="rect">
            <a:avLst/>
          </a:prstGeom>
          <a:noFill/>
          <a:ln>
            <a:noFill/>
          </a:ln>
        </p:spPr>
      </p:pic>
      <p:sp>
        <p:nvSpPr>
          <p:cNvPr id="159" name="Google Shape;159;p5"/>
          <p:cNvSpPr/>
          <p:nvPr/>
        </p:nvSpPr>
        <p:spPr>
          <a:xfrm>
            <a:off x="5273040" y="1234440"/>
            <a:ext cx="24384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Customer</a:t>
            </a:r>
            <a:endParaRPr b="0" i="0" sz="1900" u="none" cap="none" strike="noStrike">
              <a:solidFill>
                <a:schemeClr val="dk1"/>
              </a:solidFill>
              <a:latin typeface="Calibri"/>
              <a:ea typeface="Calibri"/>
              <a:cs typeface="Calibri"/>
              <a:sym typeface="Calibri"/>
            </a:endParaRPr>
          </a:p>
        </p:txBody>
      </p:sp>
      <p:sp>
        <p:nvSpPr>
          <p:cNvPr id="160" name="Google Shape;160;p5"/>
          <p:cNvSpPr/>
          <p:nvPr/>
        </p:nvSpPr>
        <p:spPr>
          <a:xfrm>
            <a:off x="4358640" y="2148840"/>
            <a:ext cx="3444240" cy="4114800"/>
          </a:xfrm>
          <a:prstGeom prst="rect">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4541520" y="2286000"/>
            <a:ext cx="3078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ATTRIBUTES</a:t>
            </a:r>
            <a:endParaRPr b="0" i="0" sz="1050" u="none" cap="none" strike="noStrike">
              <a:solidFill>
                <a:schemeClr val="dk1"/>
              </a:solidFill>
              <a:latin typeface="Calibri"/>
              <a:ea typeface="Calibri"/>
              <a:cs typeface="Calibri"/>
              <a:sym typeface="Calibri"/>
            </a:endParaRPr>
          </a:p>
        </p:txBody>
      </p:sp>
      <p:sp>
        <p:nvSpPr>
          <p:cNvPr id="162" name="Google Shape;162;p5"/>
          <p:cNvSpPr/>
          <p:nvPr/>
        </p:nvSpPr>
        <p:spPr>
          <a:xfrm>
            <a:off x="4541520" y="2606040"/>
            <a:ext cx="3078480" cy="1371600"/>
          </a:xfrm>
          <a:prstGeom prst="rect">
            <a:avLst/>
          </a:prstGeom>
          <a:noFill/>
          <a:ln>
            <a:noFill/>
          </a:ln>
        </p:spPr>
        <p:txBody>
          <a:bodyPr anchorCtr="0" anchor="ctr" bIns="45700" lIns="91425" spcFirstLastPara="1" rIns="91425" wrap="square" tIns="45700">
            <a:noAutofit/>
          </a:bodyPr>
          <a:lstStyle/>
          <a:p>
            <a:pPr indent="-127000" lvl="0" marL="127000" marR="0" rtl="0" algn="l">
              <a:spcBef>
                <a:spcPts val="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name</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budget</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booked_rooms</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reward_points</a:t>
            </a:r>
            <a:endParaRPr b="0" i="0" sz="1150" u="none" cap="none" strike="noStrike">
              <a:solidFill>
                <a:schemeClr val="dk1"/>
              </a:solidFill>
              <a:latin typeface="Calibri"/>
              <a:ea typeface="Calibri"/>
              <a:cs typeface="Calibri"/>
              <a:sym typeface="Calibri"/>
            </a:endParaRPr>
          </a:p>
        </p:txBody>
      </p:sp>
      <p:sp>
        <p:nvSpPr>
          <p:cNvPr id="163" name="Google Shape;163;p5"/>
          <p:cNvSpPr/>
          <p:nvPr/>
        </p:nvSpPr>
        <p:spPr>
          <a:xfrm>
            <a:off x="4541520" y="4114800"/>
            <a:ext cx="3078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METHODS</a:t>
            </a:r>
            <a:endParaRPr b="0" i="0" sz="1050" u="none" cap="none" strike="noStrike">
              <a:solidFill>
                <a:schemeClr val="dk1"/>
              </a:solidFill>
              <a:latin typeface="Calibri"/>
              <a:ea typeface="Calibri"/>
              <a:cs typeface="Calibri"/>
              <a:sym typeface="Calibri"/>
            </a:endParaRPr>
          </a:p>
        </p:txBody>
      </p:sp>
      <p:sp>
        <p:nvSpPr>
          <p:cNvPr id="164" name="Google Shape;164;p5"/>
          <p:cNvSpPr/>
          <p:nvPr/>
        </p:nvSpPr>
        <p:spPr>
          <a:xfrm>
            <a:off x="4541520" y="4434840"/>
            <a:ext cx="3078480" cy="1737360"/>
          </a:xfrm>
          <a:prstGeom prst="rect">
            <a:avLst/>
          </a:prstGeom>
          <a:noFill/>
          <a:ln>
            <a:noFill/>
          </a:ln>
        </p:spPr>
        <p:txBody>
          <a:bodyPr anchorCtr="0" anchor="ctr" bIns="45700" lIns="91425" spcFirstLastPara="1" rIns="91425" wrap="square" tIns="45700">
            <a:noAutofit/>
          </a:bodyPr>
          <a:lstStyle/>
          <a:p>
            <a:pPr indent="-127000" lvl="0" marL="127000" marR="0" rtl="0" algn="l">
              <a:spcBef>
                <a:spcPts val="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add_room()</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remove_room()</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pay_for_booking()</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show_booking_summary()</a:t>
            </a:r>
            <a:endParaRPr b="0" i="0" sz="1100" u="none" cap="none" strike="noStrike">
              <a:solidFill>
                <a:schemeClr val="dk1"/>
              </a:solidFill>
              <a:latin typeface="Calibri"/>
              <a:ea typeface="Calibri"/>
              <a:cs typeface="Calibri"/>
              <a:sym typeface="Calibri"/>
            </a:endParaRPr>
          </a:p>
        </p:txBody>
      </p:sp>
      <p:sp>
        <p:nvSpPr>
          <p:cNvPr id="165" name="Google Shape;165;p5"/>
          <p:cNvSpPr/>
          <p:nvPr/>
        </p:nvSpPr>
        <p:spPr>
          <a:xfrm>
            <a:off x="8168640" y="1234440"/>
            <a:ext cx="3444240" cy="914400"/>
          </a:xfrm>
          <a:prstGeom prst="roundRect">
            <a:avLst>
              <a:gd fmla="val 6000"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8351520" y="1399032"/>
            <a:ext cx="585216" cy="585216"/>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hotel.png" id="167" name="Google Shape;167;p5"/>
          <p:cNvPicPr preferRelativeResize="0"/>
          <p:nvPr/>
        </p:nvPicPr>
        <p:blipFill rotWithShape="1">
          <a:blip r:embed="rId5">
            <a:alphaModFix/>
          </a:blip>
          <a:srcRect b="0" l="0" r="0" t="0"/>
          <a:stretch/>
        </p:blipFill>
        <p:spPr>
          <a:xfrm>
            <a:off x="8479536" y="1527048"/>
            <a:ext cx="329184" cy="329184"/>
          </a:xfrm>
          <a:prstGeom prst="rect">
            <a:avLst/>
          </a:prstGeom>
          <a:noFill/>
          <a:ln>
            <a:noFill/>
          </a:ln>
        </p:spPr>
      </p:pic>
      <p:sp>
        <p:nvSpPr>
          <p:cNvPr id="168" name="Google Shape;168;p5"/>
          <p:cNvSpPr/>
          <p:nvPr/>
        </p:nvSpPr>
        <p:spPr>
          <a:xfrm>
            <a:off x="9083040" y="1234440"/>
            <a:ext cx="24384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Hotel</a:t>
            </a:r>
            <a:endParaRPr b="0" i="0" sz="1900" u="none" cap="none" strike="noStrike">
              <a:solidFill>
                <a:schemeClr val="dk1"/>
              </a:solidFill>
              <a:latin typeface="Calibri"/>
              <a:ea typeface="Calibri"/>
              <a:cs typeface="Calibri"/>
              <a:sym typeface="Calibri"/>
            </a:endParaRPr>
          </a:p>
        </p:txBody>
      </p:sp>
      <p:sp>
        <p:nvSpPr>
          <p:cNvPr id="169" name="Google Shape;169;p5"/>
          <p:cNvSpPr/>
          <p:nvPr/>
        </p:nvSpPr>
        <p:spPr>
          <a:xfrm>
            <a:off x="8168640" y="2148840"/>
            <a:ext cx="3444240" cy="4114800"/>
          </a:xfrm>
          <a:prstGeom prst="rect">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8351520" y="2286000"/>
            <a:ext cx="3078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ATTRIBUTES</a:t>
            </a:r>
            <a:endParaRPr b="0" i="0" sz="1050" u="none" cap="none" strike="noStrike">
              <a:solidFill>
                <a:schemeClr val="dk1"/>
              </a:solidFill>
              <a:latin typeface="Calibri"/>
              <a:ea typeface="Calibri"/>
              <a:cs typeface="Calibri"/>
              <a:sym typeface="Calibri"/>
            </a:endParaRPr>
          </a:p>
        </p:txBody>
      </p:sp>
      <p:sp>
        <p:nvSpPr>
          <p:cNvPr id="171" name="Google Shape;171;p5"/>
          <p:cNvSpPr/>
          <p:nvPr/>
        </p:nvSpPr>
        <p:spPr>
          <a:xfrm>
            <a:off x="8351520" y="2606040"/>
            <a:ext cx="3078480" cy="1371600"/>
          </a:xfrm>
          <a:prstGeom prst="rect">
            <a:avLst/>
          </a:prstGeom>
          <a:noFill/>
          <a:ln>
            <a:noFill/>
          </a:ln>
        </p:spPr>
        <p:txBody>
          <a:bodyPr anchorCtr="0" anchor="ctr" bIns="45700" lIns="91425" spcFirstLastPara="1" rIns="91425" wrap="square" tIns="45700">
            <a:noAutofit/>
          </a:bodyPr>
          <a:lstStyle/>
          <a:p>
            <a:pPr indent="-127000" lvl="0" marL="127000" marR="0" rtl="0" algn="l">
              <a:spcBef>
                <a:spcPts val="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name</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rooms</a:t>
            </a:r>
            <a:endParaRPr b="0" i="0" sz="115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2B2B28"/>
              </a:buClr>
              <a:buSzPts val="1150"/>
              <a:buFont typeface="Calibri"/>
              <a:buChar char="•"/>
            </a:pPr>
            <a:r>
              <a:rPr b="0" i="0" lang="en-US" sz="1150" u="none" cap="none" strike="noStrike">
                <a:solidFill>
                  <a:srgbClr val="2B2B28"/>
                </a:solidFill>
                <a:latin typeface="Calibri"/>
                <a:ea typeface="Calibri"/>
                <a:cs typeface="Calibri"/>
                <a:sym typeface="Calibri"/>
              </a:rPr>
              <a:t>bookings_log</a:t>
            </a:r>
            <a:endParaRPr b="0" i="0" sz="1150" u="none" cap="none" strike="noStrike">
              <a:solidFill>
                <a:schemeClr val="dk1"/>
              </a:solidFill>
              <a:latin typeface="Calibri"/>
              <a:ea typeface="Calibri"/>
              <a:cs typeface="Calibri"/>
              <a:sym typeface="Calibri"/>
            </a:endParaRPr>
          </a:p>
        </p:txBody>
      </p:sp>
      <p:sp>
        <p:nvSpPr>
          <p:cNvPr id="172" name="Google Shape;172;p5"/>
          <p:cNvSpPr/>
          <p:nvPr/>
        </p:nvSpPr>
        <p:spPr>
          <a:xfrm>
            <a:off x="8351520" y="4114800"/>
            <a:ext cx="3078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METHODS</a:t>
            </a:r>
            <a:endParaRPr b="0" i="0" sz="1050" u="none" cap="none" strike="noStrike">
              <a:solidFill>
                <a:schemeClr val="dk1"/>
              </a:solidFill>
              <a:latin typeface="Calibri"/>
              <a:ea typeface="Calibri"/>
              <a:cs typeface="Calibri"/>
              <a:sym typeface="Calibri"/>
            </a:endParaRPr>
          </a:p>
        </p:txBody>
      </p:sp>
      <p:sp>
        <p:nvSpPr>
          <p:cNvPr id="173" name="Google Shape;173;p5"/>
          <p:cNvSpPr/>
          <p:nvPr/>
        </p:nvSpPr>
        <p:spPr>
          <a:xfrm>
            <a:off x="8351520" y="4434840"/>
            <a:ext cx="3078480" cy="1737360"/>
          </a:xfrm>
          <a:prstGeom prst="rect">
            <a:avLst/>
          </a:prstGeom>
          <a:noFill/>
          <a:ln>
            <a:noFill/>
          </a:ln>
        </p:spPr>
        <p:txBody>
          <a:bodyPr anchorCtr="0" anchor="ctr" bIns="45700" lIns="91425" spcFirstLastPara="1" rIns="91425" wrap="square" tIns="45700">
            <a:noAutofit/>
          </a:bodyPr>
          <a:lstStyle/>
          <a:p>
            <a:pPr indent="-127000" lvl="0" marL="127000" marR="0" rtl="0" algn="l">
              <a:spcBef>
                <a:spcPts val="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show_available_rooms()</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book_room_for_customer()</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calculate_total_booking()</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log_booking()</a:t>
            </a:r>
            <a:endParaRPr b="0" i="0" sz="1100" u="none" cap="none" strike="noStrike">
              <a:solidFill>
                <a:schemeClr val="dk1"/>
              </a:solidFill>
              <a:latin typeface="Calibri"/>
              <a:ea typeface="Calibri"/>
              <a:cs typeface="Calibri"/>
              <a:sym typeface="Calibri"/>
            </a:endParaRPr>
          </a:p>
          <a:p>
            <a:pPr indent="-127000" lvl="0" marL="127000" marR="0" rtl="0" algn="l">
              <a:spcBef>
                <a:spcPts val="400"/>
              </a:spcBef>
              <a:spcAft>
                <a:spcPts val="0"/>
              </a:spcAft>
              <a:buClr>
                <a:srgbClr val="1B2A41"/>
              </a:buClr>
              <a:buSzPts val="1100"/>
              <a:buFont typeface="Courier New"/>
              <a:buChar char="•"/>
            </a:pPr>
            <a:r>
              <a:rPr b="0" i="0" lang="en-US" sz="1100" u="none" cap="none" strike="noStrike">
                <a:solidFill>
                  <a:srgbClr val="1B2A41"/>
                </a:solidFill>
                <a:latin typeface="Courier New"/>
                <a:ea typeface="Courier New"/>
                <a:cs typeface="Courier New"/>
                <a:sym typeface="Courier New"/>
              </a:rPr>
              <a:t>cancel_booking()</a:t>
            </a:r>
            <a:endParaRPr b="0" i="0" sz="1100" u="none" cap="none" strike="noStrike">
              <a:solidFill>
                <a:schemeClr val="dk1"/>
              </a:solidFill>
              <a:latin typeface="Calibri"/>
              <a:ea typeface="Calibri"/>
              <a:cs typeface="Calibri"/>
              <a:sym typeface="Calibri"/>
            </a:endParaRPr>
          </a:p>
        </p:txBody>
      </p:sp>
      <p:sp>
        <p:nvSpPr>
          <p:cNvPr id="174" name="Google Shape;174;p5"/>
          <p:cNvSpPr/>
          <p:nvPr/>
        </p:nvSpPr>
        <p:spPr>
          <a:xfrm>
            <a:off x="548640" y="6355080"/>
            <a:ext cx="9601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65A"/>
              </a:buClr>
              <a:buSzPts val="1150"/>
              <a:buFont typeface="Calibri"/>
              <a:buNone/>
            </a:pPr>
            <a:r>
              <a:rPr b="0" i="1" lang="en-US" sz="1150" u="none" cap="none" strike="noStrike">
                <a:solidFill>
                  <a:srgbClr val="6B665A"/>
                </a:solidFill>
                <a:latin typeface="Calibri"/>
                <a:ea typeface="Calibri"/>
                <a:cs typeface="Calibri"/>
                <a:sym typeface="Calibri"/>
              </a:rPr>
              <a:t>Hotel აერთიანებს Room-ებსა და Customer-ების დაჯავშნებს ერთ სისტემაში</a:t>
            </a:r>
            <a:endParaRPr b="0" i="0" sz="1150" u="none" cap="none" strike="noStrike">
              <a:solidFill>
                <a:schemeClr val="dk1"/>
              </a:solidFill>
              <a:latin typeface="Calibri"/>
              <a:ea typeface="Calibri"/>
              <a:cs typeface="Calibri"/>
              <a:sym typeface="Calibri"/>
            </a:endParaRPr>
          </a:p>
        </p:txBody>
      </p:sp>
      <p:sp>
        <p:nvSpPr>
          <p:cNvPr id="175" name="Google Shape;175;p5"/>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6"/>
          <p:cNvSpPr/>
          <p:nvPr/>
        </p:nvSpPr>
        <p:spPr>
          <a:xfrm>
            <a:off x="548640" y="365760"/>
            <a:ext cx="594360" cy="59436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ed_navy.png" id="182" name="Google Shape;182;p6"/>
          <p:cNvPicPr preferRelativeResize="0"/>
          <p:nvPr/>
        </p:nvPicPr>
        <p:blipFill rotWithShape="1">
          <a:blip r:embed="rId3">
            <a:alphaModFix/>
          </a:blip>
          <a:srcRect b="0" l="0" r="0" t="0"/>
          <a:stretch/>
        </p:blipFill>
        <p:spPr>
          <a:xfrm>
            <a:off x="685800" y="502920"/>
            <a:ext cx="320040" cy="320040"/>
          </a:xfrm>
          <a:prstGeom prst="rect">
            <a:avLst/>
          </a:prstGeom>
          <a:noFill/>
          <a:ln>
            <a:noFill/>
          </a:ln>
        </p:spPr>
      </p:pic>
      <p:sp>
        <p:nvSpPr>
          <p:cNvPr id="183" name="Google Shape;183;p6"/>
          <p:cNvSpPr/>
          <p:nvPr/>
        </p:nvSpPr>
        <p:spPr>
          <a:xfrm>
            <a:off x="1280160" y="365760"/>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600"/>
              <a:buFont typeface="Cambria"/>
              <a:buNone/>
            </a:pPr>
            <a:r>
              <a:rPr b="1" i="0" lang="en-US" sz="2600" u="none" cap="none" strike="noStrike">
                <a:solidFill>
                  <a:srgbClr val="1B2A41"/>
                </a:solidFill>
                <a:latin typeface="Cambria"/>
                <a:ea typeface="Cambria"/>
                <a:cs typeface="Cambria"/>
                <a:sym typeface="Cambria"/>
              </a:rPr>
              <a:t>Room — დეტალურად</a:t>
            </a:r>
            <a:endParaRPr b="0" i="0" sz="2600" u="none" cap="none" strike="noStrike">
              <a:solidFill>
                <a:schemeClr val="dk1"/>
              </a:solidFill>
              <a:latin typeface="Calibri"/>
              <a:ea typeface="Calibri"/>
              <a:cs typeface="Calibri"/>
              <a:sym typeface="Calibri"/>
            </a:endParaRPr>
          </a:p>
        </p:txBody>
      </p:sp>
      <p:sp>
        <p:nvSpPr>
          <p:cNvPr id="184" name="Google Shape;184;p6"/>
          <p:cNvSpPr/>
          <p:nvPr/>
        </p:nvSpPr>
        <p:spPr>
          <a:xfrm>
            <a:off x="548640" y="1234440"/>
            <a:ext cx="5760720" cy="4480560"/>
          </a:xfrm>
          <a:prstGeom prst="roundRect">
            <a:avLst>
              <a:gd fmla="val 1020"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731520" y="1344168"/>
            <a:ext cx="5394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15A"/>
              </a:buClr>
              <a:buSzPts val="1050"/>
              <a:buFont typeface="Calibri"/>
              <a:buNone/>
            </a:pPr>
            <a:r>
              <a:rPr b="1" i="0" lang="en-US" sz="1050" u="none" cap="none" strike="noStrike">
                <a:solidFill>
                  <a:srgbClr val="C9A15A"/>
                </a:solidFill>
                <a:latin typeface="Calibri"/>
                <a:ea typeface="Calibri"/>
                <a:cs typeface="Calibri"/>
                <a:sym typeface="Calibri"/>
              </a:rPr>
              <a:t>hotel_booking.py</a:t>
            </a:r>
            <a:endParaRPr b="0" i="0" sz="1050" u="none" cap="none" strike="noStrike">
              <a:solidFill>
                <a:schemeClr val="dk1"/>
              </a:solidFill>
              <a:latin typeface="Calibri"/>
              <a:ea typeface="Calibri"/>
              <a:cs typeface="Calibri"/>
              <a:sym typeface="Calibri"/>
            </a:endParaRPr>
          </a:p>
        </p:txBody>
      </p:sp>
      <p:sp>
        <p:nvSpPr>
          <p:cNvPr id="186" name="Google Shape;186;p6"/>
          <p:cNvSpPr/>
          <p:nvPr/>
        </p:nvSpPr>
        <p:spPr>
          <a:xfrm>
            <a:off x="731520" y="1691640"/>
            <a:ext cx="5394960" cy="384048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class Room:</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def __init__(self, room_number,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room_type,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price_per_night,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max_guests,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is_available=True):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self.room_number = room_number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self.room_type = room_type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self.price_per_night = price_per_night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self.is_available = is_available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self.max_guests = max_guests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def calculate_price(self, nights):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if nights &lt;= 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raise ValueError(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"Nights must be positive")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round(</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self.price_per_night * nights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 seasonal_multiplier(), 2)</a:t>
            </a:r>
            <a:endParaRPr b="0" i="0" sz="1100" u="none" cap="none" strike="noStrike">
              <a:solidFill>
                <a:schemeClr val="dk1"/>
              </a:solidFill>
              <a:latin typeface="Calibri"/>
              <a:ea typeface="Calibri"/>
              <a:cs typeface="Calibri"/>
              <a:sym typeface="Calibri"/>
            </a:endParaRPr>
          </a:p>
        </p:txBody>
      </p:sp>
      <p:sp>
        <p:nvSpPr>
          <p:cNvPr id="187" name="Google Shape;187;p6"/>
          <p:cNvSpPr/>
          <p:nvPr/>
        </p:nvSpPr>
        <p:spPr>
          <a:xfrm>
            <a:off x="6537960" y="123444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რატომ ასე?</a:t>
            </a:r>
            <a:endParaRPr b="0" i="0" sz="1500" u="none" cap="none" strike="noStrike">
              <a:solidFill>
                <a:schemeClr val="dk1"/>
              </a:solidFill>
              <a:latin typeface="Calibri"/>
              <a:ea typeface="Calibri"/>
              <a:cs typeface="Calibri"/>
              <a:sym typeface="Calibri"/>
            </a:endParaRPr>
          </a:p>
        </p:txBody>
      </p:sp>
      <p:sp>
        <p:nvSpPr>
          <p:cNvPr id="188" name="Google Shape;188;p6"/>
          <p:cNvSpPr/>
          <p:nvPr/>
        </p:nvSpPr>
        <p:spPr>
          <a:xfrm>
            <a:off x="6537960" y="1737360"/>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6812280" y="1618488"/>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Room არ იცის არაფერი მომხმარებელზე ან სასტუმროზე — მხოლოდ საკუთარ მდგომარეობაზეა პასუხისმგებელი</a:t>
            </a:r>
            <a:endParaRPr b="0" i="0" sz="1200" u="none" cap="none" strike="noStrike">
              <a:solidFill>
                <a:schemeClr val="dk1"/>
              </a:solidFill>
              <a:latin typeface="Calibri"/>
              <a:ea typeface="Calibri"/>
              <a:cs typeface="Calibri"/>
              <a:sym typeface="Calibri"/>
            </a:endParaRPr>
          </a:p>
        </p:txBody>
      </p:sp>
      <p:sp>
        <p:nvSpPr>
          <p:cNvPr id="190" name="Google Shape;190;p6"/>
          <p:cNvSpPr/>
          <p:nvPr/>
        </p:nvSpPr>
        <p:spPr>
          <a:xfrm>
            <a:off x="6537960" y="2670048"/>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6812280" y="2551176"/>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book_room() / release_room() ცვლის მხოლოდ is_available ალამს — მარტივი და გასაგები</a:t>
            </a:r>
            <a:endParaRPr b="0" i="0" sz="1200" u="none" cap="none" strike="noStrike">
              <a:solidFill>
                <a:schemeClr val="dk1"/>
              </a:solidFill>
              <a:latin typeface="Calibri"/>
              <a:ea typeface="Calibri"/>
              <a:cs typeface="Calibri"/>
              <a:sym typeface="Calibri"/>
            </a:endParaRPr>
          </a:p>
        </p:txBody>
      </p:sp>
      <p:sp>
        <p:nvSpPr>
          <p:cNvPr id="192" name="Google Shape;192;p6"/>
          <p:cNvSpPr/>
          <p:nvPr/>
        </p:nvSpPr>
        <p:spPr>
          <a:xfrm>
            <a:off x="6537960" y="3602736"/>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6812280" y="3483864"/>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calculate_price() თავად აგდებს შეცდომას არასწორ შეყვანაზე, ნაცვლად იმისა, რომ დუმდეს</a:t>
            </a:r>
            <a:endParaRPr b="0" i="0" sz="1200" u="none" cap="none" strike="noStrike">
              <a:solidFill>
                <a:schemeClr val="dk1"/>
              </a:solidFill>
              <a:latin typeface="Calibri"/>
              <a:ea typeface="Calibri"/>
              <a:cs typeface="Calibri"/>
              <a:sym typeface="Calibri"/>
            </a:endParaRPr>
          </a:p>
        </p:txBody>
      </p:sp>
      <p:sp>
        <p:nvSpPr>
          <p:cNvPr id="194" name="Google Shape;194;p6"/>
          <p:cNvSpPr/>
          <p:nvPr/>
        </p:nvSpPr>
        <p:spPr>
          <a:xfrm>
            <a:off x="6537960" y="4535424"/>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6812280" y="4416552"/>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ფასის ლოგიკა ცენტრალიზებულია ერთ მეთოდში — არსად არ მეორდება</a:t>
            </a:r>
            <a:endParaRPr b="0" i="0" sz="1200" u="none" cap="none" strike="noStrike">
              <a:solidFill>
                <a:schemeClr val="dk1"/>
              </a:solidFill>
              <a:latin typeface="Calibri"/>
              <a:ea typeface="Calibri"/>
              <a:cs typeface="Calibri"/>
              <a:sym typeface="Calibri"/>
            </a:endParaRPr>
          </a:p>
        </p:txBody>
      </p:sp>
      <p:sp>
        <p:nvSpPr>
          <p:cNvPr id="196" name="Google Shape;196;p6"/>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7"/>
          <p:cNvSpPr/>
          <p:nvPr/>
        </p:nvSpPr>
        <p:spPr>
          <a:xfrm>
            <a:off x="548640" y="365760"/>
            <a:ext cx="594360" cy="59436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users_navy.png" id="203" name="Google Shape;203;p7"/>
          <p:cNvPicPr preferRelativeResize="0"/>
          <p:nvPr/>
        </p:nvPicPr>
        <p:blipFill rotWithShape="1">
          <a:blip r:embed="rId3">
            <a:alphaModFix/>
          </a:blip>
          <a:srcRect b="0" l="0" r="0" t="0"/>
          <a:stretch/>
        </p:blipFill>
        <p:spPr>
          <a:xfrm>
            <a:off x="685800" y="502920"/>
            <a:ext cx="320040" cy="320040"/>
          </a:xfrm>
          <a:prstGeom prst="rect">
            <a:avLst/>
          </a:prstGeom>
          <a:noFill/>
          <a:ln>
            <a:noFill/>
          </a:ln>
        </p:spPr>
      </p:pic>
      <p:sp>
        <p:nvSpPr>
          <p:cNvPr id="204" name="Google Shape;204;p7"/>
          <p:cNvSpPr/>
          <p:nvPr/>
        </p:nvSpPr>
        <p:spPr>
          <a:xfrm>
            <a:off x="1280160" y="365760"/>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600"/>
              <a:buFont typeface="Cambria"/>
              <a:buNone/>
            </a:pPr>
            <a:r>
              <a:rPr b="1" i="0" lang="en-US" sz="2600" u="none" cap="none" strike="noStrike">
                <a:solidFill>
                  <a:srgbClr val="1B2A41"/>
                </a:solidFill>
                <a:latin typeface="Cambria"/>
                <a:ea typeface="Cambria"/>
                <a:cs typeface="Cambria"/>
                <a:sym typeface="Cambria"/>
              </a:rPr>
              <a:t>Customer — დეტალურად</a:t>
            </a:r>
            <a:endParaRPr b="0" i="0" sz="2600" u="none" cap="none" strike="noStrike">
              <a:solidFill>
                <a:schemeClr val="dk1"/>
              </a:solidFill>
              <a:latin typeface="Calibri"/>
              <a:ea typeface="Calibri"/>
              <a:cs typeface="Calibri"/>
              <a:sym typeface="Calibri"/>
            </a:endParaRPr>
          </a:p>
        </p:txBody>
      </p:sp>
      <p:sp>
        <p:nvSpPr>
          <p:cNvPr id="205" name="Google Shape;205;p7"/>
          <p:cNvSpPr/>
          <p:nvPr/>
        </p:nvSpPr>
        <p:spPr>
          <a:xfrm>
            <a:off x="548640" y="1234440"/>
            <a:ext cx="5760720" cy="4480560"/>
          </a:xfrm>
          <a:prstGeom prst="roundRect">
            <a:avLst>
              <a:gd fmla="val 1020"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731520" y="1344168"/>
            <a:ext cx="5394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15A"/>
              </a:buClr>
              <a:buSzPts val="1050"/>
              <a:buFont typeface="Calibri"/>
              <a:buNone/>
            </a:pPr>
            <a:r>
              <a:rPr b="1" i="0" lang="en-US" sz="1050" u="none" cap="none" strike="noStrike">
                <a:solidFill>
                  <a:srgbClr val="C9A15A"/>
                </a:solidFill>
                <a:latin typeface="Calibri"/>
                <a:ea typeface="Calibri"/>
                <a:cs typeface="Calibri"/>
                <a:sym typeface="Calibri"/>
              </a:rPr>
              <a:t>hotel_booking.py</a:t>
            </a:r>
            <a:endParaRPr b="0" i="0" sz="1050" u="none" cap="none" strike="noStrike">
              <a:solidFill>
                <a:schemeClr val="dk1"/>
              </a:solidFill>
              <a:latin typeface="Calibri"/>
              <a:ea typeface="Calibri"/>
              <a:cs typeface="Calibri"/>
              <a:sym typeface="Calibri"/>
            </a:endParaRPr>
          </a:p>
        </p:txBody>
      </p:sp>
      <p:sp>
        <p:nvSpPr>
          <p:cNvPr id="207" name="Google Shape;207;p7"/>
          <p:cNvSpPr/>
          <p:nvPr/>
        </p:nvSpPr>
        <p:spPr>
          <a:xfrm>
            <a:off x="731520" y="1691640"/>
            <a:ext cx="5394960" cy="384048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class Customer: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def __init__(self, name, budget):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self.name = name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self.budget = budget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self.booked_rooms =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self.reward_points = 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def pay_for_booking(self,</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total_price):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if total_price &lt;= 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False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if self.budget &lt; total_price: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False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self.budget -= total_price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earned = int(total_price // 10)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self.reward_points += earned</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True</a:t>
            </a:r>
            <a:endParaRPr b="0" i="0" sz="1100" u="none" cap="none" strike="noStrike">
              <a:solidFill>
                <a:schemeClr val="dk1"/>
              </a:solidFill>
              <a:latin typeface="Calibri"/>
              <a:ea typeface="Calibri"/>
              <a:cs typeface="Calibri"/>
              <a:sym typeface="Calibri"/>
            </a:endParaRPr>
          </a:p>
        </p:txBody>
      </p:sp>
      <p:sp>
        <p:nvSpPr>
          <p:cNvPr id="208" name="Google Shape;208;p7"/>
          <p:cNvSpPr/>
          <p:nvPr/>
        </p:nvSpPr>
        <p:spPr>
          <a:xfrm>
            <a:off x="6537960" y="123444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რატომ ასე?</a:t>
            </a:r>
            <a:endParaRPr b="0" i="0" sz="1500" u="none" cap="none" strike="noStrike">
              <a:solidFill>
                <a:schemeClr val="dk1"/>
              </a:solidFill>
              <a:latin typeface="Calibri"/>
              <a:ea typeface="Calibri"/>
              <a:cs typeface="Calibri"/>
              <a:sym typeface="Calibri"/>
            </a:endParaRPr>
          </a:p>
        </p:txBody>
      </p:sp>
      <p:sp>
        <p:nvSpPr>
          <p:cNvPr id="209" name="Google Shape;209;p7"/>
          <p:cNvSpPr/>
          <p:nvPr/>
        </p:nvSpPr>
        <p:spPr>
          <a:xfrm>
            <a:off x="6537960" y="1737360"/>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6812280" y="1618488"/>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pay_for_booking() აბრუნებს bool-ს — Hotel-ს შეუძლია მარტივად შეამოწმოს, გადახდა შესრულდა თუ არა</a:t>
            </a:r>
            <a:endParaRPr b="0" i="0" sz="1200" u="none" cap="none" strike="noStrike">
              <a:solidFill>
                <a:schemeClr val="dk1"/>
              </a:solidFill>
              <a:latin typeface="Calibri"/>
              <a:ea typeface="Calibri"/>
              <a:cs typeface="Calibri"/>
              <a:sym typeface="Calibri"/>
            </a:endParaRPr>
          </a:p>
        </p:txBody>
      </p:sp>
      <p:sp>
        <p:nvSpPr>
          <p:cNvPr id="211" name="Google Shape;211;p7"/>
          <p:cNvSpPr/>
          <p:nvPr/>
        </p:nvSpPr>
        <p:spPr>
          <a:xfrm>
            <a:off x="6537960" y="2670048"/>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6812280" y="2551176"/>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ბიუჯეტი არასდროს გადადის უარყოფით მნიშვნელობაზე — ორმაგი შემოწმებაა (≤ 0 და budget &lt; price)</a:t>
            </a:r>
            <a:endParaRPr b="0" i="0" sz="1200" u="none" cap="none" strike="noStrike">
              <a:solidFill>
                <a:schemeClr val="dk1"/>
              </a:solidFill>
              <a:latin typeface="Calibri"/>
              <a:ea typeface="Calibri"/>
              <a:cs typeface="Calibri"/>
              <a:sym typeface="Calibri"/>
            </a:endParaRPr>
          </a:p>
        </p:txBody>
      </p:sp>
      <p:sp>
        <p:nvSpPr>
          <p:cNvPr id="213" name="Google Shape;213;p7"/>
          <p:cNvSpPr/>
          <p:nvPr/>
        </p:nvSpPr>
        <p:spPr>
          <a:xfrm>
            <a:off x="6537960" y="3602736"/>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a:off x="6812280" y="3483864"/>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reward_points დაითვლება ავტომატურად — 1 ქულა ყოველ 10 ₾-ზე</a:t>
            </a:r>
            <a:endParaRPr b="0" i="0" sz="1200" u="none" cap="none" strike="noStrike">
              <a:solidFill>
                <a:schemeClr val="dk1"/>
              </a:solidFill>
              <a:latin typeface="Calibri"/>
              <a:ea typeface="Calibri"/>
              <a:cs typeface="Calibri"/>
              <a:sym typeface="Calibri"/>
            </a:endParaRPr>
          </a:p>
        </p:txBody>
      </p:sp>
      <p:sp>
        <p:nvSpPr>
          <p:cNvPr id="215" name="Google Shape;215;p7"/>
          <p:cNvSpPr/>
          <p:nvPr/>
        </p:nvSpPr>
        <p:spPr>
          <a:xfrm>
            <a:off x="6537960" y="4535424"/>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6812280" y="4416552"/>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booked_rooms სია ინახავს რეალურ Room ობიექტებს, არა მხოლოდ ID-ებს</a:t>
            </a:r>
            <a:endParaRPr b="0" i="0" sz="1200" u="none" cap="none" strike="noStrike">
              <a:solidFill>
                <a:schemeClr val="dk1"/>
              </a:solidFill>
              <a:latin typeface="Calibri"/>
              <a:ea typeface="Calibri"/>
              <a:cs typeface="Calibri"/>
              <a:sym typeface="Calibri"/>
            </a:endParaRPr>
          </a:p>
        </p:txBody>
      </p:sp>
      <p:sp>
        <p:nvSpPr>
          <p:cNvPr id="217" name="Google Shape;217;p7"/>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8"/>
          <p:cNvSpPr/>
          <p:nvPr/>
        </p:nvSpPr>
        <p:spPr>
          <a:xfrm>
            <a:off x="548640" y="365760"/>
            <a:ext cx="594360" cy="59436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hotel_navy.png" id="224" name="Google Shape;224;p8"/>
          <p:cNvPicPr preferRelativeResize="0"/>
          <p:nvPr/>
        </p:nvPicPr>
        <p:blipFill rotWithShape="1">
          <a:blip r:embed="rId3">
            <a:alphaModFix/>
          </a:blip>
          <a:srcRect b="0" l="0" r="0" t="0"/>
          <a:stretch/>
        </p:blipFill>
        <p:spPr>
          <a:xfrm>
            <a:off x="685800" y="502920"/>
            <a:ext cx="320040" cy="320040"/>
          </a:xfrm>
          <a:prstGeom prst="rect">
            <a:avLst/>
          </a:prstGeom>
          <a:noFill/>
          <a:ln>
            <a:noFill/>
          </a:ln>
        </p:spPr>
      </p:pic>
      <p:sp>
        <p:nvSpPr>
          <p:cNvPr id="225" name="Google Shape;225;p8"/>
          <p:cNvSpPr/>
          <p:nvPr/>
        </p:nvSpPr>
        <p:spPr>
          <a:xfrm>
            <a:off x="1280160" y="365760"/>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600"/>
              <a:buFont typeface="Cambria"/>
              <a:buNone/>
            </a:pPr>
            <a:r>
              <a:rPr b="1" i="0" lang="en-US" sz="2600" u="none" cap="none" strike="noStrike">
                <a:solidFill>
                  <a:srgbClr val="1B2A41"/>
                </a:solidFill>
                <a:latin typeface="Cambria"/>
                <a:ea typeface="Cambria"/>
                <a:cs typeface="Cambria"/>
                <a:sym typeface="Cambria"/>
              </a:rPr>
              <a:t>Hotel — დეტალურად</a:t>
            </a:r>
            <a:endParaRPr b="0" i="0" sz="2600" u="none" cap="none" strike="noStrike">
              <a:solidFill>
                <a:schemeClr val="dk1"/>
              </a:solidFill>
              <a:latin typeface="Calibri"/>
              <a:ea typeface="Calibri"/>
              <a:cs typeface="Calibri"/>
              <a:sym typeface="Calibri"/>
            </a:endParaRPr>
          </a:p>
        </p:txBody>
      </p:sp>
      <p:sp>
        <p:nvSpPr>
          <p:cNvPr id="226" name="Google Shape;226;p8"/>
          <p:cNvSpPr/>
          <p:nvPr/>
        </p:nvSpPr>
        <p:spPr>
          <a:xfrm>
            <a:off x="548640" y="1234440"/>
            <a:ext cx="5760720" cy="4480560"/>
          </a:xfrm>
          <a:prstGeom prst="roundRect">
            <a:avLst>
              <a:gd fmla="val 1020"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731520" y="1344168"/>
            <a:ext cx="53949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15A"/>
              </a:buClr>
              <a:buSzPts val="1050"/>
              <a:buFont typeface="Calibri"/>
              <a:buNone/>
            </a:pPr>
            <a:r>
              <a:rPr b="1" i="0" lang="en-US" sz="1050" u="none" cap="none" strike="noStrike">
                <a:solidFill>
                  <a:srgbClr val="C9A15A"/>
                </a:solidFill>
                <a:latin typeface="Calibri"/>
                <a:ea typeface="Calibri"/>
                <a:cs typeface="Calibri"/>
                <a:sym typeface="Calibri"/>
              </a:rPr>
              <a:t>hotel_booking.py</a:t>
            </a:r>
            <a:endParaRPr b="0" i="0" sz="1050" u="none" cap="none" strike="noStrike">
              <a:solidFill>
                <a:schemeClr val="dk1"/>
              </a:solidFill>
              <a:latin typeface="Calibri"/>
              <a:ea typeface="Calibri"/>
              <a:cs typeface="Calibri"/>
              <a:sym typeface="Calibri"/>
            </a:endParaRPr>
          </a:p>
        </p:txBody>
      </p:sp>
      <p:sp>
        <p:nvSpPr>
          <p:cNvPr id="228" name="Google Shape;228;p8"/>
          <p:cNvSpPr/>
          <p:nvPr/>
        </p:nvSpPr>
        <p:spPr>
          <a:xfrm>
            <a:off x="731520" y="1691640"/>
            <a:ext cx="5394960" cy="384048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def book_room_for_customer(self,</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customer, room_number, nights):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room = self._find_room(room_number)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if room is None or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not room.is_available: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logger.info("Booking failed...")</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False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total = self.calculate_total_booking(</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room_number, nights)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if not customer.pay_for_booking(</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total):</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logger.info("Payment failed...")</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False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room.book_room()</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customer.add_room(room)</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self.log_booking(customer, room,</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total)</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True</a:t>
            </a:r>
            <a:endParaRPr b="0" i="0" sz="1100" u="none" cap="none" strike="noStrike">
              <a:solidFill>
                <a:schemeClr val="dk1"/>
              </a:solidFill>
              <a:latin typeface="Calibri"/>
              <a:ea typeface="Calibri"/>
              <a:cs typeface="Calibri"/>
              <a:sym typeface="Calibri"/>
            </a:endParaRPr>
          </a:p>
        </p:txBody>
      </p:sp>
      <p:sp>
        <p:nvSpPr>
          <p:cNvPr id="229" name="Google Shape;229;p8"/>
          <p:cNvSpPr/>
          <p:nvPr/>
        </p:nvSpPr>
        <p:spPr>
          <a:xfrm>
            <a:off x="6537960" y="123444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რატომ ასე?</a:t>
            </a:r>
            <a:endParaRPr b="0" i="0" sz="1500" u="none" cap="none" strike="noStrike">
              <a:solidFill>
                <a:schemeClr val="dk1"/>
              </a:solidFill>
              <a:latin typeface="Calibri"/>
              <a:ea typeface="Calibri"/>
              <a:cs typeface="Calibri"/>
              <a:sym typeface="Calibri"/>
            </a:endParaRPr>
          </a:p>
        </p:txBody>
      </p:sp>
      <p:sp>
        <p:nvSpPr>
          <p:cNvPr id="230" name="Google Shape;230;p8"/>
          <p:cNvSpPr/>
          <p:nvPr/>
        </p:nvSpPr>
        <p:spPr>
          <a:xfrm>
            <a:off x="6537960" y="1737360"/>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6812280" y="1618488"/>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Hotel კოორდინირებს Room-სა და Customer-ს შორის — არცერთი მათგანი პირდაპირ არ 'ესაუბრება' მეორეს</a:t>
            </a:r>
            <a:endParaRPr b="0" i="0" sz="1200" u="none" cap="none" strike="noStrike">
              <a:solidFill>
                <a:schemeClr val="dk1"/>
              </a:solidFill>
              <a:latin typeface="Calibri"/>
              <a:ea typeface="Calibri"/>
              <a:cs typeface="Calibri"/>
              <a:sym typeface="Calibri"/>
            </a:endParaRPr>
          </a:p>
        </p:txBody>
      </p:sp>
      <p:sp>
        <p:nvSpPr>
          <p:cNvPr id="232" name="Google Shape;232;p8"/>
          <p:cNvSpPr/>
          <p:nvPr/>
        </p:nvSpPr>
        <p:spPr>
          <a:xfrm>
            <a:off x="6537960" y="2670048"/>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6812280" y="2551176"/>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ყოველი წარუმატებელი ნაბიჯი დაუყოვნებლივ წყვეტს პროცესს (early return) — არ რჩება ნახევრად დასრულებული მდგომარეობა</a:t>
            </a:r>
            <a:endParaRPr b="0" i="0" sz="1200" u="none" cap="none" strike="noStrike">
              <a:solidFill>
                <a:schemeClr val="dk1"/>
              </a:solidFill>
              <a:latin typeface="Calibri"/>
              <a:ea typeface="Calibri"/>
              <a:cs typeface="Calibri"/>
              <a:sym typeface="Calibri"/>
            </a:endParaRPr>
          </a:p>
        </p:txBody>
      </p:sp>
      <p:sp>
        <p:nvSpPr>
          <p:cNvPr id="234" name="Google Shape;234;p8"/>
          <p:cNvSpPr/>
          <p:nvPr/>
        </p:nvSpPr>
        <p:spPr>
          <a:xfrm>
            <a:off x="6537960" y="3602736"/>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6812280" y="3483864"/>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ოთახის დაკავება და მომხმარებლისთვის დამატება ხდება მხოლოდ წარმატებული გადახდის შემდეგ</a:t>
            </a:r>
            <a:endParaRPr b="0" i="0" sz="1200" u="none" cap="none" strike="noStrike">
              <a:solidFill>
                <a:schemeClr val="dk1"/>
              </a:solidFill>
              <a:latin typeface="Calibri"/>
              <a:ea typeface="Calibri"/>
              <a:cs typeface="Calibri"/>
              <a:sym typeface="Calibri"/>
            </a:endParaRPr>
          </a:p>
        </p:txBody>
      </p:sp>
      <p:sp>
        <p:nvSpPr>
          <p:cNvPr id="236" name="Google Shape;236;p8"/>
          <p:cNvSpPr/>
          <p:nvPr/>
        </p:nvSpPr>
        <p:spPr>
          <a:xfrm>
            <a:off x="6537960" y="4535424"/>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6812280" y="4416552"/>
            <a:ext cx="457200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ყველა შედეგი — წარმატება თუ ჩავარდნა — ილოგება</a:t>
            </a:r>
            <a:endParaRPr b="0" i="0" sz="1200" u="none" cap="none" strike="noStrike">
              <a:solidFill>
                <a:schemeClr val="dk1"/>
              </a:solidFill>
              <a:latin typeface="Calibri"/>
              <a:ea typeface="Calibri"/>
              <a:cs typeface="Calibri"/>
              <a:sym typeface="Calibri"/>
            </a:endParaRPr>
          </a:p>
        </p:txBody>
      </p:sp>
      <p:sp>
        <p:nvSpPr>
          <p:cNvPr id="238" name="Google Shape;238;p8"/>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E"/>
        </a:solidFill>
      </p:bgPr>
    </p:bg>
    <p:spTree>
      <p:nvGrpSpPr>
        <p:cNvPr id="243" name="Shape 243"/>
        <p:cNvGrpSpPr/>
        <p:nvPr/>
      </p:nvGrpSpPr>
      <p:grpSpPr>
        <a:xfrm>
          <a:off x="0" y="0"/>
          <a:ext cx="0" cy="0"/>
          <a:chOff x="0" y="0"/>
          <a:chExt cx="0" cy="0"/>
        </a:xfrm>
      </p:grpSpPr>
      <p:sp>
        <p:nvSpPr>
          <p:cNvPr id="244" name="Google Shape;244;p9"/>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დინამიური ფასწარმოქმნა</a:t>
            </a:r>
            <a:endParaRPr b="0" i="0" sz="2800" u="none" cap="none" strike="noStrike">
              <a:solidFill>
                <a:schemeClr val="dk1"/>
              </a:solidFill>
              <a:latin typeface="Calibri"/>
              <a:ea typeface="Calibri"/>
              <a:cs typeface="Calibri"/>
              <a:sym typeface="Calibri"/>
            </a:endParaRPr>
          </a:p>
        </p:txBody>
      </p:sp>
      <p:sp>
        <p:nvSpPr>
          <p:cNvPr id="245" name="Google Shape;245;p9"/>
          <p:cNvSpPr/>
          <p:nvPr/>
        </p:nvSpPr>
        <p:spPr>
          <a:xfrm>
            <a:off x="548640" y="96012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400"/>
              <a:buFont typeface="Calibri"/>
              <a:buNone/>
            </a:pPr>
            <a:r>
              <a:rPr b="0" i="0" lang="en-US" sz="1400" u="none" cap="none" strike="noStrike">
                <a:solidFill>
                  <a:srgbClr val="6B665A"/>
                </a:solidFill>
                <a:latin typeface="Calibri"/>
                <a:ea typeface="Calibri"/>
                <a:cs typeface="Calibri"/>
                <a:sym typeface="Calibri"/>
              </a:rPr>
              <a:t>ფასი დამოკიდებულია ღამეების რაოდენობასა და მიმდინარე სეზონზე.</a:t>
            </a:r>
            <a:endParaRPr b="0" i="0" sz="1400" u="none" cap="none" strike="noStrike">
              <a:solidFill>
                <a:schemeClr val="dk1"/>
              </a:solidFill>
              <a:latin typeface="Calibri"/>
              <a:ea typeface="Calibri"/>
              <a:cs typeface="Calibri"/>
              <a:sym typeface="Calibri"/>
            </a:endParaRPr>
          </a:p>
        </p:txBody>
      </p:sp>
      <p:sp>
        <p:nvSpPr>
          <p:cNvPr id="246" name="Google Shape;246;p9"/>
          <p:cNvSpPr/>
          <p:nvPr/>
        </p:nvSpPr>
        <p:spPr>
          <a:xfrm>
            <a:off x="548640" y="1600200"/>
            <a:ext cx="5120640" cy="2103120"/>
          </a:xfrm>
          <a:prstGeom prst="roundRect">
            <a:avLst>
              <a:gd fmla="val 2174"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731520" y="1709928"/>
            <a:ext cx="47548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15A"/>
              </a:buClr>
              <a:buSzPts val="1050"/>
              <a:buFont typeface="Calibri"/>
              <a:buNone/>
            </a:pPr>
            <a:r>
              <a:rPr b="1" i="0" lang="en-US" sz="1050" u="none" cap="none" strike="noStrike">
                <a:solidFill>
                  <a:srgbClr val="C9A15A"/>
                </a:solidFill>
                <a:latin typeface="Calibri"/>
                <a:ea typeface="Calibri"/>
                <a:cs typeface="Calibri"/>
                <a:sym typeface="Calibri"/>
              </a:rPr>
              <a:t>seasonal_multiplier()</a:t>
            </a:r>
            <a:endParaRPr b="0" i="0" sz="1050" u="none" cap="none" strike="noStrike">
              <a:solidFill>
                <a:schemeClr val="dk1"/>
              </a:solidFill>
              <a:latin typeface="Calibri"/>
              <a:ea typeface="Calibri"/>
              <a:cs typeface="Calibri"/>
              <a:sym typeface="Calibri"/>
            </a:endParaRPr>
          </a:p>
        </p:txBody>
      </p:sp>
      <p:sp>
        <p:nvSpPr>
          <p:cNvPr id="248" name="Google Shape;248;p9"/>
          <p:cNvSpPr/>
          <p:nvPr/>
        </p:nvSpPr>
        <p:spPr>
          <a:xfrm>
            <a:off x="731520" y="2057400"/>
            <a:ext cx="4754880" cy="146304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def seasonal_multiplier(month=None):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if month in (6, 7, 8, 12):</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1.5   # high season</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if month in (4, 5, 9, 10):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1.2   # mid season</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return 1.0       # low season</a:t>
            </a:r>
            <a:endParaRPr b="0" i="0" sz="1100" u="none" cap="none" strike="noStrike">
              <a:solidFill>
                <a:schemeClr val="dk1"/>
              </a:solidFill>
              <a:latin typeface="Calibri"/>
              <a:ea typeface="Calibri"/>
              <a:cs typeface="Calibri"/>
              <a:sym typeface="Calibri"/>
            </a:endParaRPr>
          </a:p>
        </p:txBody>
      </p:sp>
      <p:sp>
        <p:nvSpPr>
          <p:cNvPr id="249" name="Google Shape;249;p9"/>
          <p:cNvSpPr/>
          <p:nvPr/>
        </p:nvSpPr>
        <p:spPr>
          <a:xfrm>
            <a:off x="548640" y="3886200"/>
            <a:ext cx="822960" cy="384048"/>
          </a:xfrm>
          <a:prstGeom prst="roundRect">
            <a:avLst>
              <a:gd fmla="val 14286" name="adj"/>
            </a:avLst>
          </a:prstGeom>
          <a:solidFill>
            <a:srgbClr val="B546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548640" y="3886200"/>
            <a:ext cx="82296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×1.5</a:t>
            </a:r>
            <a:endParaRPr b="0" i="0" sz="1300" u="none" cap="none" strike="noStrike">
              <a:solidFill>
                <a:schemeClr val="dk1"/>
              </a:solidFill>
              <a:latin typeface="Calibri"/>
              <a:ea typeface="Calibri"/>
              <a:cs typeface="Calibri"/>
              <a:sym typeface="Calibri"/>
            </a:endParaRPr>
          </a:p>
        </p:txBody>
      </p:sp>
      <p:sp>
        <p:nvSpPr>
          <p:cNvPr id="251" name="Google Shape;251;p9"/>
          <p:cNvSpPr/>
          <p:nvPr/>
        </p:nvSpPr>
        <p:spPr>
          <a:xfrm>
            <a:off x="1508760" y="3840480"/>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250"/>
              <a:buFont typeface="Calibri"/>
              <a:buNone/>
            </a:pPr>
            <a:r>
              <a:rPr b="1" i="0" lang="en-US" sz="1250" u="none" cap="none" strike="noStrike">
                <a:solidFill>
                  <a:srgbClr val="1B2A41"/>
                </a:solidFill>
                <a:latin typeface="Calibri"/>
                <a:ea typeface="Calibri"/>
                <a:cs typeface="Calibri"/>
                <a:sym typeface="Calibri"/>
              </a:rPr>
              <a:t>მაღალი სეზონი</a:t>
            </a:r>
            <a:endParaRPr b="0" i="0" sz="1250" u="none" cap="none" strike="noStrike">
              <a:solidFill>
                <a:schemeClr val="dk1"/>
              </a:solidFill>
              <a:latin typeface="Calibri"/>
              <a:ea typeface="Calibri"/>
              <a:cs typeface="Calibri"/>
              <a:sym typeface="Calibri"/>
            </a:endParaRPr>
          </a:p>
        </p:txBody>
      </p:sp>
      <p:sp>
        <p:nvSpPr>
          <p:cNvPr id="252" name="Google Shape;252;p9"/>
          <p:cNvSpPr/>
          <p:nvPr/>
        </p:nvSpPr>
        <p:spPr>
          <a:xfrm>
            <a:off x="1508760" y="406908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ივნისი–აგვისტო, დეკემბერი</a:t>
            </a:r>
            <a:endParaRPr b="0" i="0" sz="1000" u="none" cap="none" strike="noStrike">
              <a:solidFill>
                <a:schemeClr val="dk1"/>
              </a:solidFill>
              <a:latin typeface="Calibri"/>
              <a:ea typeface="Calibri"/>
              <a:cs typeface="Calibri"/>
              <a:sym typeface="Calibri"/>
            </a:endParaRPr>
          </a:p>
        </p:txBody>
      </p:sp>
      <p:sp>
        <p:nvSpPr>
          <p:cNvPr id="253" name="Google Shape;253;p9"/>
          <p:cNvSpPr/>
          <p:nvPr/>
        </p:nvSpPr>
        <p:spPr>
          <a:xfrm>
            <a:off x="548640" y="4434840"/>
            <a:ext cx="822960" cy="384048"/>
          </a:xfrm>
          <a:prstGeom prst="roundRect">
            <a:avLst>
              <a:gd fmla="val 14286" name="adj"/>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548640" y="4434840"/>
            <a:ext cx="82296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×1.2</a:t>
            </a:r>
            <a:endParaRPr b="0" i="0" sz="1300" u="none" cap="none" strike="noStrike">
              <a:solidFill>
                <a:schemeClr val="dk1"/>
              </a:solidFill>
              <a:latin typeface="Calibri"/>
              <a:ea typeface="Calibri"/>
              <a:cs typeface="Calibri"/>
              <a:sym typeface="Calibri"/>
            </a:endParaRPr>
          </a:p>
        </p:txBody>
      </p:sp>
      <p:sp>
        <p:nvSpPr>
          <p:cNvPr id="255" name="Google Shape;255;p9"/>
          <p:cNvSpPr/>
          <p:nvPr/>
        </p:nvSpPr>
        <p:spPr>
          <a:xfrm>
            <a:off x="1508760" y="4389120"/>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250"/>
              <a:buFont typeface="Calibri"/>
              <a:buNone/>
            </a:pPr>
            <a:r>
              <a:rPr b="1" i="0" lang="en-US" sz="1250" u="none" cap="none" strike="noStrike">
                <a:solidFill>
                  <a:srgbClr val="1B2A41"/>
                </a:solidFill>
                <a:latin typeface="Calibri"/>
                <a:ea typeface="Calibri"/>
                <a:cs typeface="Calibri"/>
                <a:sym typeface="Calibri"/>
              </a:rPr>
              <a:t>საშუალო სეზონი</a:t>
            </a:r>
            <a:endParaRPr b="0" i="0" sz="1250" u="none" cap="none" strike="noStrike">
              <a:solidFill>
                <a:schemeClr val="dk1"/>
              </a:solidFill>
              <a:latin typeface="Calibri"/>
              <a:ea typeface="Calibri"/>
              <a:cs typeface="Calibri"/>
              <a:sym typeface="Calibri"/>
            </a:endParaRPr>
          </a:p>
        </p:txBody>
      </p:sp>
      <p:sp>
        <p:nvSpPr>
          <p:cNvPr id="256" name="Google Shape;256;p9"/>
          <p:cNvSpPr/>
          <p:nvPr/>
        </p:nvSpPr>
        <p:spPr>
          <a:xfrm>
            <a:off x="1508760" y="461772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აპრილი–მაისი, სექტემბერი–ოქტომბერი</a:t>
            </a:r>
            <a:endParaRPr b="0" i="0" sz="1000" u="none" cap="none" strike="noStrike">
              <a:solidFill>
                <a:schemeClr val="dk1"/>
              </a:solidFill>
              <a:latin typeface="Calibri"/>
              <a:ea typeface="Calibri"/>
              <a:cs typeface="Calibri"/>
              <a:sym typeface="Calibri"/>
            </a:endParaRPr>
          </a:p>
        </p:txBody>
      </p:sp>
      <p:sp>
        <p:nvSpPr>
          <p:cNvPr id="257" name="Google Shape;257;p9"/>
          <p:cNvSpPr/>
          <p:nvPr/>
        </p:nvSpPr>
        <p:spPr>
          <a:xfrm>
            <a:off x="548640" y="4983480"/>
            <a:ext cx="822960" cy="384048"/>
          </a:xfrm>
          <a:prstGeom prst="roundRect">
            <a:avLst>
              <a:gd fmla="val 14286" name="adj"/>
            </a:avLst>
          </a:prstGeom>
          <a:solidFill>
            <a:srgbClr val="2F7D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548640" y="4983480"/>
            <a:ext cx="82296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×1.0</a:t>
            </a:r>
            <a:endParaRPr b="0" i="0" sz="1300" u="none" cap="none" strike="noStrike">
              <a:solidFill>
                <a:schemeClr val="dk1"/>
              </a:solidFill>
              <a:latin typeface="Calibri"/>
              <a:ea typeface="Calibri"/>
              <a:cs typeface="Calibri"/>
              <a:sym typeface="Calibri"/>
            </a:endParaRPr>
          </a:p>
        </p:txBody>
      </p:sp>
      <p:sp>
        <p:nvSpPr>
          <p:cNvPr id="259" name="Google Shape;259;p9"/>
          <p:cNvSpPr/>
          <p:nvPr/>
        </p:nvSpPr>
        <p:spPr>
          <a:xfrm>
            <a:off x="1508760" y="4937760"/>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250"/>
              <a:buFont typeface="Calibri"/>
              <a:buNone/>
            </a:pPr>
            <a:r>
              <a:rPr b="1" i="0" lang="en-US" sz="1250" u="none" cap="none" strike="noStrike">
                <a:solidFill>
                  <a:srgbClr val="1B2A41"/>
                </a:solidFill>
                <a:latin typeface="Calibri"/>
                <a:ea typeface="Calibri"/>
                <a:cs typeface="Calibri"/>
                <a:sym typeface="Calibri"/>
              </a:rPr>
              <a:t>დაბალი სეზონი</a:t>
            </a:r>
            <a:endParaRPr b="0" i="0" sz="1250" u="none" cap="none" strike="noStrike">
              <a:solidFill>
                <a:schemeClr val="dk1"/>
              </a:solidFill>
              <a:latin typeface="Calibri"/>
              <a:ea typeface="Calibri"/>
              <a:cs typeface="Calibri"/>
              <a:sym typeface="Calibri"/>
            </a:endParaRPr>
          </a:p>
        </p:txBody>
      </p:sp>
      <p:sp>
        <p:nvSpPr>
          <p:cNvPr id="260" name="Google Shape;260;p9"/>
          <p:cNvSpPr/>
          <p:nvPr/>
        </p:nvSpPr>
        <p:spPr>
          <a:xfrm>
            <a:off x="1508760" y="5166360"/>
            <a:ext cx="3474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დანარჩენი თვეები</a:t>
            </a:r>
            <a:endParaRPr b="0" i="0" sz="1000" u="none" cap="none" strike="noStrike">
              <a:solidFill>
                <a:schemeClr val="dk1"/>
              </a:solidFill>
              <a:latin typeface="Calibri"/>
              <a:ea typeface="Calibri"/>
              <a:cs typeface="Calibri"/>
              <a:sym typeface="Calibri"/>
            </a:endParaRPr>
          </a:p>
        </p:txBody>
      </p:sp>
      <p:sp>
        <p:nvSpPr>
          <p:cNvPr id="261" name="Google Shape;261;p9"/>
          <p:cNvSpPr/>
          <p:nvPr/>
        </p:nvSpPr>
        <p:spPr>
          <a:xfrm>
            <a:off x="6126480" y="1600200"/>
            <a:ext cx="5303520" cy="4480560"/>
          </a:xfrm>
          <a:prstGeom prst="roundRect">
            <a:avLst>
              <a:gd fmla="val 1224"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6355080" y="178308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მაგალითი — გამოთვლა</a:t>
            </a:r>
            <a:endParaRPr b="0" i="0" sz="1500" u="none" cap="none" strike="noStrike">
              <a:solidFill>
                <a:schemeClr val="dk1"/>
              </a:solidFill>
              <a:latin typeface="Calibri"/>
              <a:ea typeface="Calibri"/>
              <a:cs typeface="Calibri"/>
              <a:sym typeface="Calibri"/>
            </a:endParaRPr>
          </a:p>
        </p:txBody>
      </p:sp>
      <p:sp>
        <p:nvSpPr>
          <p:cNvPr id="263" name="Google Shape;263;p9"/>
          <p:cNvSpPr/>
          <p:nvPr/>
        </p:nvSpPr>
        <p:spPr>
          <a:xfrm>
            <a:off x="6263640" y="2331720"/>
            <a:ext cx="5029200" cy="502920"/>
          </a:xfrm>
          <a:prstGeom prst="rect">
            <a:avLst/>
          </a:prstGeom>
          <a:solidFill>
            <a:srgbClr val="F7F4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6446520" y="233172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200"/>
              <a:buFont typeface="Calibri"/>
              <a:buNone/>
            </a:pPr>
            <a:r>
              <a:rPr b="0" i="0" lang="en-US" sz="1200" u="none" cap="none" strike="noStrike">
                <a:solidFill>
                  <a:srgbClr val="6B665A"/>
                </a:solidFill>
                <a:latin typeface="Calibri"/>
                <a:ea typeface="Calibri"/>
                <a:cs typeface="Calibri"/>
                <a:sym typeface="Calibri"/>
              </a:rPr>
              <a:t>ოთახის ტიპი</a:t>
            </a:r>
            <a:endParaRPr b="0" i="0" sz="1200" u="none" cap="none" strike="noStrike">
              <a:solidFill>
                <a:schemeClr val="dk1"/>
              </a:solidFill>
              <a:latin typeface="Calibri"/>
              <a:ea typeface="Calibri"/>
              <a:cs typeface="Calibri"/>
              <a:sym typeface="Calibri"/>
            </a:endParaRPr>
          </a:p>
        </p:txBody>
      </p:sp>
      <p:sp>
        <p:nvSpPr>
          <p:cNvPr id="265" name="Google Shape;265;p9"/>
          <p:cNvSpPr/>
          <p:nvPr/>
        </p:nvSpPr>
        <p:spPr>
          <a:xfrm>
            <a:off x="8869680" y="2331720"/>
            <a:ext cx="2286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250"/>
              <a:buFont typeface="Calibri"/>
              <a:buNone/>
            </a:pPr>
            <a:r>
              <a:rPr b="0" i="0" lang="en-US" sz="1250" u="none" cap="none" strike="noStrike">
                <a:solidFill>
                  <a:srgbClr val="2B2B28"/>
                </a:solidFill>
                <a:latin typeface="Calibri"/>
                <a:ea typeface="Calibri"/>
                <a:cs typeface="Calibri"/>
                <a:sym typeface="Calibri"/>
              </a:rPr>
              <a:t>Double, #201</a:t>
            </a:r>
            <a:endParaRPr b="0" i="0" sz="1250" u="none" cap="none" strike="noStrike">
              <a:solidFill>
                <a:schemeClr val="dk1"/>
              </a:solidFill>
              <a:latin typeface="Calibri"/>
              <a:ea typeface="Calibri"/>
              <a:cs typeface="Calibri"/>
              <a:sym typeface="Calibri"/>
            </a:endParaRPr>
          </a:p>
        </p:txBody>
      </p:sp>
      <p:sp>
        <p:nvSpPr>
          <p:cNvPr id="266" name="Google Shape;266;p9"/>
          <p:cNvSpPr/>
          <p:nvPr/>
        </p:nvSpPr>
        <p:spPr>
          <a:xfrm>
            <a:off x="6446520" y="283464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200"/>
              <a:buFont typeface="Calibri"/>
              <a:buNone/>
            </a:pPr>
            <a:r>
              <a:rPr b="0" i="0" lang="en-US" sz="1200" u="none" cap="none" strike="noStrike">
                <a:solidFill>
                  <a:srgbClr val="6B665A"/>
                </a:solidFill>
                <a:latin typeface="Calibri"/>
                <a:ea typeface="Calibri"/>
                <a:cs typeface="Calibri"/>
                <a:sym typeface="Calibri"/>
              </a:rPr>
              <a:t>ფასი ღამეში</a:t>
            </a:r>
            <a:endParaRPr b="0" i="0" sz="1200" u="none" cap="none" strike="noStrike">
              <a:solidFill>
                <a:schemeClr val="dk1"/>
              </a:solidFill>
              <a:latin typeface="Calibri"/>
              <a:ea typeface="Calibri"/>
              <a:cs typeface="Calibri"/>
              <a:sym typeface="Calibri"/>
            </a:endParaRPr>
          </a:p>
        </p:txBody>
      </p:sp>
      <p:sp>
        <p:nvSpPr>
          <p:cNvPr id="267" name="Google Shape;267;p9"/>
          <p:cNvSpPr/>
          <p:nvPr/>
        </p:nvSpPr>
        <p:spPr>
          <a:xfrm>
            <a:off x="8869680" y="2834640"/>
            <a:ext cx="2286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250"/>
              <a:buFont typeface="Calibri"/>
              <a:buNone/>
            </a:pPr>
            <a:r>
              <a:rPr b="0" i="0" lang="en-US" sz="1250" u="none" cap="none" strike="noStrike">
                <a:solidFill>
                  <a:srgbClr val="2B2B28"/>
                </a:solidFill>
                <a:latin typeface="Calibri"/>
                <a:ea typeface="Calibri"/>
                <a:cs typeface="Calibri"/>
                <a:sym typeface="Calibri"/>
              </a:rPr>
              <a:t>130 ₾</a:t>
            </a:r>
            <a:endParaRPr b="0" i="0" sz="1250" u="none" cap="none" strike="noStrike">
              <a:solidFill>
                <a:schemeClr val="dk1"/>
              </a:solidFill>
              <a:latin typeface="Calibri"/>
              <a:ea typeface="Calibri"/>
              <a:cs typeface="Calibri"/>
              <a:sym typeface="Calibri"/>
            </a:endParaRPr>
          </a:p>
        </p:txBody>
      </p:sp>
      <p:sp>
        <p:nvSpPr>
          <p:cNvPr id="268" name="Google Shape;268;p9"/>
          <p:cNvSpPr/>
          <p:nvPr/>
        </p:nvSpPr>
        <p:spPr>
          <a:xfrm>
            <a:off x="6263640" y="3337560"/>
            <a:ext cx="5029200" cy="502920"/>
          </a:xfrm>
          <a:prstGeom prst="rect">
            <a:avLst/>
          </a:prstGeom>
          <a:solidFill>
            <a:srgbClr val="F7F4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6446520" y="333756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200"/>
              <a:buFont typeface="Calibri"/>
              <a:buNone/>
            </a:pPr>
            <a:r>
              <a:rPr b="0" i="0" lang="en-US" sz="1200" u="none" cap="none" strike="noStrike">
                <a:solidFill>
                  <a:srgbClr val="6B665A"/>
                </a:solidFill>
                <a:latin typeface="Calibri"/>
                <a:ea typeface="Calibri"/>
                <a:cs typeface="Calibri"/>
                <a:sym typeface="Calibri"/>
              </a:rPr>
              <a:t>ღამეების რაოდენობა</a:t>
            </a:r>
            <a:endParaRPr b="0" i="0" sz="1200" u="none" cap="none" strike="noStrike">
              <a:solidFill>
                <a:schemeClr val="dk1"/>
              </a:solidFill>
              <a:latin typeface="Calibri"/>
              <a:ea typeface="Calibri"/>
              <a:cs typeface="Calibri"/>
              <a:sym typeface="Calibri"/>
            </a:endParaRPr>
          </a:p>
        </p:txBody>
      </p:sp>
      <p:sp>
        <p:nvSpPr>
          <p:cNvPr id="270" name="Google Shape;270;p9"/>
          <p:cNvSpPr/>
          <p:nvPr/>
        </p:nvSpPr>
        <p:spPr>
          <a:xfrm>
            <a:off x="8869680" y="3337560"/>
            <a:ext cx="2286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250"/>
              <a:buFont typeface="Calibri"/>
              <a:buNone/>
            </a:pPr>
            <a:r>
              <a:rPr b="0" i="0" lang="en-US" sz="1250" u="none" cap="none" strike="noStrike">
                <a:solidFill>
                  <a:srgbClr val="2B2B28"/>
                </a:solidFill>
                <a:latin typeface="Calibri"/>
                <a:ea typeface="Calibri"/>
                <a:cs typeface="Calibri"/>
                <a:sym typeface="Calibri"/>
              </a:rPr>
              <a:t>4</a:t>
            </a:r>
            <a:endParaRPr b="0" i="0" sz="1250" u="none" cap="none" strike="noStrike">
              <a:solidFill>
                <a:schemeClr val="dk1"/>
              </a:solidFill>
              <a:latin typeface="Calibri"/>
              <a:ea typeface="Calibri"/>
              <a:cs typeface="Calibri"/>
              <a:sym typeface="Calibri"/>
            </a:endParaRPr>
          </a:p>
        </p:txBody>
      </p:sp>
      <p:sp>
        <p:nvSpPr>
          <p:cNvPr id="271" name="Google Shape;271;p9"/>
          <p:cNvSpPr/>
          <p:nvPr/>
        </p:nvSpPr>
        <p:spPr>
          <a:xfrm>
            <a:off x="6446520" y="384048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200"/>
              <a:buFont typeface="Calibri"/>
              <a:buNone/>
            </a:pPr>
            <a:r>
              <a:rPr b="0" i="0" lang="en-US" sz="1200" u="none" cap="none" strike="noStrike">
                <a:solidFill>
                  <a:srgbClr val="6B665A"/>
                </a:solidFill>
                <a:latin typeface="Calibri"/>
                <a:ea typeface="Calibri"/>
                <a:cs typeface="Calibri"/>
                <a:sym typeface="Calibri"/>
              </a:rPr>
              <a:t>თვე</a:t>
            </a:r>
            <a:endParaRPr b="0" i="0" sz="1200" u="none" cap="none" strike="noStrike">
              <a:solidFill>
                <a:schemeClr val="dk1"/>
              </a:solidFill>
              <a:latin typeface="Calibri"/>
              <a:ea typeface="Calibri"/>
              <a:cs typeface="Calibri"/>
              <a:sym typeface="Calibri"/>
            </a:endParaRPr>
          </a:p>
        </p:txBody>
      </p:sp>
      <p:sp>
        <p:nvSpPr>
          <p:cNvPr id="272" name="Google Shape;272;p9"/>
          <p:cNvSpPr/>
          <p:nvPr/>
        </p:nvSpPr>
        <p:spPr>
          <a:xfrm>
            <a:off x="8869680" y="3840480"/>
            <a:ext cx="2286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250"/>
              <a:buFont typeface="Calibri"/>
              <a:buNone/>
            </a:pPr>
            <a:r>
              <a:rPr b="0" i="0" lang="en-US" sz="1250" u="none" cap="none" strike="noStrike">
                <a:solidFill>
                  <a:srgbClr val="2B2B28"/>
                </a:solidFill>
                <a:latin typeface="Calibri"/>
                <a:ea typeface="Calibri"/>
                <a:cs typeface="Calibri"/>
                <a:sym typeface="Calibri"/>
              </a:rPr>
              <a:t>ივლისი (მაღალი სეზონი)</a:t>
            </a:r>
            <a:endParaRPr b="0" i="0" sz="1250" u="none" cap="none" strike="noStrike">
              <a:solidFill>
                <a:schemeClr val="dk1"/>
              </a:solidFill>
              <a:latin typeface="Calibri"/>
              <a:ea typeface="Calibri"/>
              <a:cs typeface="Calibri"/>
              <a:sym typeface="Calibri"/>
            </a:endParaRPr>
          </a:p>
        </p:txBody>
      </p:sp>
      <p:sp>
        <p:nvSpPr>
          <p:cNvPr id="273" name="Google Shape;273;p9"/>
          <p:cNvSpPr/>
          <p:nvPr/>
        </p:nvSpPr>
        <p:spPr>
          <a:xfrm>
            <a:off x="6263640" y="4343400"/>
            <a:ext cx="5029200" cy="502920"/>
          </a:xfrm>
          <a:prstGeom prst="rect">
            <a:avLst/>
          </a:prstGeom>
          <a:solidFill>
            <a:srgbClr val="F7F4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6446520" y="434340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200"/>
              <a:buFont typeface="Calibri"/>
              <a:buNone/>
            </a:pPr>
            <a:r>
              <a:rPr b="0" i="0" lang="en-US" sz="1200" u="none" cap="none" strike="noStrike">
                <a:solidFill>
                  <a:srgbClr val="6B665A"/>
                </a:solidFill>
                <a:latin typeface="Calibri"/>
                <a:ea typeface="Calibri"/>
                <a:cs typeface="Calibri"/>
                <a:sym typeface="Calibri"/>
              </a:rPr>
              <a:t>კოეფიციენტი</a:t>
            </a:r>
            <a:endParaRPr b="0" i="0" sz="1200" u="none" cap="none" strike="noStrike">
              <a:solidFill>
                <a:schemeClr val="dk1"/>
              </a:solidFill>
              <a:latin typeface="Calibri"/>
              <a:ea typeface="Calibri"/>
              <a:cs typeface="Calibri"/>
              <a:sym typeface="Calibri"/>
            </a:endParaRPr>
          </a:p>
        </p:txBody>
      </p:sp>
      <p:sp>
        <p:nvSpPr>
          <p:cNvPr id="275" name="Google Shape;275;p9"/>
          <p:cNvSpPr/>
          <p:nvPr/>
        </p:nvSpPr>
        <p:spPr>
          <a:xfrm>
            <a:off x="8869680" y="4343400"/>
            <a:ext cx="2286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B2B28"/>
              </a:buClr>
              <a:buSzPts val="1250"/>
              <a:buFont typeface="Calibri"/>
              <a:buNone/>
            </a:pPr>
            <a:r>
              <a:rPr b="0" i="0" lang="en-US" sz="1250" u="none" cap="none" strike="noStrike">
                <a:solidFill>
                  <a:srgbClr val="2B2B28"/>
                </a:solidFill>
                <a:latin typeface="Calibri"/>
                <a:ea typeface="Calibri"/>
                <a:cs typeface="Calibri"/>
                <a:sym typeface="Calibri"/>
              </a:rPr>
              <a:t>× 1.5</a:t>
            </a:r>
            <a:endParaRPr b="0" i="0" sz="1250" u="none" cap="none" strike="noStrike">
              <a:solidFill>
                <a:schemeClr val="dk1"/>
              </a:solidFill>
              <a:latin typeface="Calibri"/>
              <a:ea typeface="Calibri"/>
              <a:cs typeface="Calibri"/>
              <a:sym typeface="Calibri"/>
            </a:endParaRPr>
          </a:p>
        </p:txBody>
      </p:sp>
      <p:sp>
        <p:nvSpPr>
          <p:cNvPr id="276" name="Google Shape;276;p9"/>
          <p:cNvSpPr/>
          <p:nvPr/>
        </p:nvSpPr>
        <p:spPr>
          <a:xfrm>
            <a:off x="6446520" y="484632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200"/>
              <a:buFont typeface="Calibri"/>
              <a:buNone/>
            </a:pPr>
            <a:r>
              <a:rPr b="0" i="0" lang="en-US" sz="1200" u="none" cap="none" strike="noStrike">
                <a:solidFill>
                  <a:srgbClr val="6B665A"/>
                </a:solidFill>
                <a:latin typeface="Calibri"/>
                <a:ea typeface="Calibri"/>
                <a:cs typeface="Calibri"/>
                <a:sym typeface="Calibri"/>
              </a:rPr>
              <a:t>ჯამური ფასი</a:t>
            </a:r>
            <a:endParaRPr b="0" i="0" sz="1200" u="none" cap="none" strike="noStrike">
              <a:solidFill>
                <a:schemeClr val="dk1"/>
              </a:solidFill>
              <a:latin typeface="Calibri"/>
              <a:ea typeface="Calibri"/>
              <a:cs typeface="Calibri"/>
              <a:sym typeface="Calibri"/>
            </a:endParaRPr>
          </a:p>
        </p:txBody>
      </p:sp>
      <p:sp>
        <p:nvSpPr>
          <p:cNvPr id="277" name="Google Shape;277;p9"/>
          <p:cNvSpPr/>
          <p:nvPr/>
        </p:nvSpPr>
        <p:spPr>
          <a:xfrm>
            <a:off x="8869680" y="4846320"/>
            <a:ext cx="2286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250"/>
              <a:buFont typeface="Calibri"/>
              <a:buNone/>
            </a:pPr>
            <a:r>
              <a:rPr b="1" i="0" lang="en-US" sz="1250" u="none" cap="none" strike="noStrike">
                <a:solidFill>
                  <a:srgbClr val="A9803E"/>
                </a:solidFill>
                <a:latin typeface="Calibri"/>
                <a:ea typeface="Calibri"/>
                <a:cs typeface="Calibri"/>
                <a:sym typeface="Calibri"/>
              </a:rPr>
              <a:t>130 × 4 × 1.5 = 780 ₾</a:t>
            </a:r>
            <a:endParaRPr b="0" i="0" sz="1250" u="none" cap="none" strike="noStrike">
              <a:solidFill>
                <a:schemeClr val="dk1"/>
              </a:solidFill>
              <a:latin typeface="Calibri"/>
              <a:ea typeface="Calibri"/>
              <a:cs typeface="Calibri"/>
              <a:sym typeface="Calibri"/>
            </a:endParaRPr>
          </a:p>
        </p:txBody>
      </p:sp>
      <p:sp>
        <p:nvSpPr>
          <p:cNvPr id="278" name="Google Shape;278;p9"/>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1"/>
        </a:solidFill>
      </p:bgPr>
    </p:bg>
    <p:spTree>
      <p:nvGrpSpPr>
        <p:cNvPr id="283" name="Shape 283"/>
        <p:cNvGrpSpPr/>
        <p:nvPr/>
      </p:nvGrpSpPr>
      <p:grpSpPr>
        <a:xfrm>
          <a:off x="0" y="0"/>
          <a:ext cx="0" cy="0"/>
          <a:chOff x="0" y="0"/>
          <a:chExt cx="0" cy="0"/>
        </a:xfrm>
      </p:grpSpPr>
      <p:sp>
        <p:nvSpPr>
          <p:cNvPr id="284" name="Google Shape;284;p10"/>
          <p:cNvSpPr/>
          <p:nvPr/>
        </p:nvSpPr>
        <p:spPr>
          <a:xfrm>
            <a:off x="548640" y="411480"/>
            <a:ext cx="9144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დაჯავშნის პროცესი</a:t>
            </a:r>
            <a:endParaRPr b="0" i="0" sz="2800" u="none" cap="none" strike="noStrike">
              <a:solidFill>
                <a:schemeClr val="dk1"/>
              </a:solidFill>
              <a:latin typeface="Calibri"/>
              <a:ea typeface="Calibri"/>
              <a:cs typeface="Calibri"/>
              <a:sym typeface="Calibri"/>
            </a:endParaRPr>
          </a:p>
        </p:txBody>
      </p:sp>
      <p:sp>
        <p:nvSpPr>
          <p:cNvPr id="285" name="Google Shape;285;p10"/>
          <p:cNvSpPr/>
          <p:nvPr/>
        </p:nvSpPr>
        <p:spPr>
          <a:xfrm>
            <a:off x="685800" y="1600200"/>
            <a:ext cx="502920" cy="5029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685800" y="16002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800"/>
              <a:buFont typeface="Cambria"/>
              <a:buNone/>
            </a:pPr>
            <a:r>
              <a:rPr b="1" i="0" lang="en-US" sz="1800" u="none" cap="none" strike="noStrike">
                <a:solidFill>
                  <a:srgbClr val="1B2A41"/>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cxnSp>
        <p:nvCxnSpPr>
          <p:cNvPr id="287" name="Google Shape;287;p10"/>
          <p:cNvCxnSpPr/>
          <p:nvPr/>
        </p:nvCxnSpPr>
        <p:spPr>
          <a:xfrm>
            <a:off x="937260" y="2103120"/>
            <a:ext cx="0" cy="411480"/>
          </a:xfrm>
          <a:prstGeom prst="straightConnector1">
            <a:avLst/>
          </a:prstGeom>
          <a:noFill/>
          <a:ln cap="flat" cmpd="sng" w="19050">
            <a:solidFill>
              <a:srgbClr val="C9A15A"/>
            </a:solidFill>
            <a:prstDash val="dash"/>
            <a:round/>
            <a:headEnd len="sm" w="sm" type="none"/>
            <a:tailEnd len="sm" w="sm" type="none"/>
          </a:ln>
        </p:spPr>
      </p:cxnSp>
      <p:sp>
        <p:nvSpPr>
          <p:cNvPr id="288" name="Google Shape;288;p10"/>
          <p:cNvSpPr/>
          <p:nvPr/>
        </p:nvSpPr>
        <p:spPr>
          <a:xfrm>
            <a:off x="1463040" y="1554480"/>
            <a:ext cx="95097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500"/>
              <a:buFont typeface="Calibri"/>
              <a:buNone/>
            </a:pPr>
            <a:r>
              <a:rPr b="0" i="0" lang="en-US" sz="1500" u="none" cap="none" strike="noStrike">
                <a:solidFill>
                  <a:srgbClr val="EDE9DB"/>
                </a:solidFill>
                <a:latin typeface="Calibri"/>
                <a:ea typeface="Calibri"/>
                <a:cs typeface="Calibri"/>
                <a:sym typeface="Calibri"/>
              </a:rPr>
              <a:t>მომხმარებელი ირჩევს ოთახის ტიპსა და ღამეების რაოდენობას</a:t>
            </a:r>
            <a:endParaRPr b="0" i="0" sz="1500" u="none" cap="none" strike="noStrike">
              <a:solidFill>
                <a:schemeClr val="dk1"/>
              </a:solidFill>
              <a:latin typeface="Calibri"/>
              <a:ea typeface="Calibri"/>
              <a:cs typeface="Calibri"/>
              <a:sym typeface="Calibri"/>
            </a:endParaRPr>
          </a:p>
        </p:txBody>
      </p:sp>
      <p:sp>
        <p:nvSpPr>
          <p:cNvPr id="289" name="Google Shape;289;p10"/>
          <p:cNvSpPr/>
          <p:nvPr/>
        </p:nvSpPr>
        <p:spPr>
          <a:xfrm>
            <a:off x="685800" y="2514600"/>
            <a:ext cx="502920" cy="5029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p:nvPr/>
        </p:nvSpPr>
        <p:spPr>
          <a:xfrm>
            <a:off x="685800" y="25146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800"/>
              <a:buFont typeface="Cambria"/>
              <a:buNone/>
            </a:pPr>
            <a:r>
              <a:rPr b="1" i="0" lang="en-US" sz="1800" u="none" cap="none" strike="noStrike">
                <a:solidFill>
                  <a:srgbClr val="1B2A41"/>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cxnSp>
        <p:nvCxnSpPr>
          <p:cNvPr id="291" name="Google Shape;291;p10"/>
          <p:cNvCxnSpPr/>
          <p:nvPr/>
        </p:nvCxnSpPr>
        <p:spPr>
          <a:xfrm>
            <a:off x="937260" y="3017520"/>
            <a:ext cx="0" cy="411480"/>
          </a:xfrm>
          <a:prstGeom prst="straightConnector1">
            <a:avLst/>
          </a:prstGeom>
          <a:noFill/>
          <a:ln cap="flat" cmpd="sng" w="19050">
            <a:solidFill>
              <a:srgbClr val="C9A15A"/>
            </a:solidFill>
            <a:prstDash val="dash"/>
            <a:round/>
            <a:headEnd len="sm" w="sm" type="none"/>
            <a:tailEnd len="sm" w="sm" type="none"/>
          </a:ln>
        </p:spPr>
      </p:cxnSp>
      <p:sp>
        <p:nvSpPr>
          <p:cNvPr id="292" name="Google Shape;292;p10"/>
          <p:cNvSpPr/>
          <p:nvPr/>
        </p:nvSpPr>
        <p:spPr>
          <a:xfrm>
            <a:off x="1463040" y="2468880"/>
            <a:ext cx="95097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500"/>
              <a:buFont typeface="Calibri"/>
              <a:buNone/>
            </a:pPr>
            <a:r>
              <a:rPr b="0" i="0" lang="en-US" sz="1500" u="none" cap="none" strike="noStrike">
                <a:solidFill>
                  <a:srgbClr val="EDE9DB"/>
                </a:solidFill>
                <a:latin typeface="Calibri"/>
                <a:ea typeface="Calibri"/>
                <a:cs typeface="Calibri"/>
                <a:sym typeface="Calibri"/>
              </a:rPr>
              <a:t>სისტემა აჩვენებს თავისუფალ ოთახებს (show_available_rooms)</a:t>
            </a:r>
            <a:endParaRPr b="0" i="0" sz="1500" u="none" cap="none" strike="noStrike">
              <a:solidFill>
                <a:schemeClr val="dk1"/>
              </a:solidFill>
              <a:latin typeface="Calibri"/>
              <a:ea typeface="Calibri"/>
              <a:cs typeface="Calibri"/>
              <a:sym typeface="Calibri"/>
            </a:endParaRPr>
          </a:p>
        </p:txBody>
      </p:sp>
      <p:sp>
        <p:nvSpPr>
          <p:cNvPr id="293" name="Google Shape;293;p10"/>
          <p:cNvSpPr/>
          <p:nvPr/>
        </p:nvSpPr>
        <p:spPr>
          <a:xfrm>
            <a:off x="685800" y="3429000"/>
            <a:ext cx="502920" cy="5029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685800" y="34290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800"/>
              <a:buFont typeface="Cambria"/>
              <a:buNone/>
            </a:pPr>
            <a:r>
              <a:rPr b="1" i="0" lang="en-US" sz="1800" u="none" cap="none" strike="noStrike">
                <a:solidFill>
                  <a:srgbClr val="1B2A41"/>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cxnSp>
        <p:nvCxnSpPr>
          <p:cNvPr id="295" name="Google Shape;295;p10"/>
          <p:cNvCxnSpPr/>
          <p:nvPr/>
        </p:nvCxnSpPr>
        <p:spPr>
          <a:xfrm>
            <a:off x="937260" y="3931920"/>
            <a:ext cx="0" cy="411480"/>
          </a:xfrm>
          <a:prstGeom prst="straightConnector1">
            <a:avLst/>
          </a:prstGeom>
          <a:noFill/>
          <a:ln cap="flat" cmpd="sng" w="19050">
            <a:solidFill>
              <a:srgbClr val="C9A15A"/>
            </a:solidFill>
            <a:prstDash val="dash"/>
            <a:round/>
            <a:headEnd len="sm" w="sm" type="none"/>
            <a:tailEnd len="sm" w="sm" type="none"/>
          </a:ln>
        </p:spPr>
      </p:cxnSp>
      <p:sp>
        <p:nvSpPr>
          <p:cNvPr id="296" name="Google Shape;296;p10"/>
          <p:cNvSpPr/>
          <p:nvPr/>
        </p:nvSpPr>
        <p:spPr>
          <a:xfrm>
            <a:off x="1463040" y="3383280"/>
            <a:ext cx="95097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500"/>
              <a:buFont typeface="Calibri"/>
              <a:buNone/>
            </a:pPr>
            <a:r>
              <a:rPr b="0" i="0" lang="en-US" sz="1500" u="none" cap="none" strike="noStrike">
                <a:solidFill>
                  <a:srgbClr val="EDE9DB"/>
                </a:solidFill>
                <a:latin typeface="Calibri"/>
                <a:ea typeface="Calibri"/>
                <a:cs typeface="Calibri"/>
                <a:sym typeface="Calibri"/>
              </a:rPr>
              <a:t>მომხმარებელი ირჩევს კონკრეტულ ოთახს და ჯამური ფასი გამოითვლება</a:t>
            </a:r>
            <a:endParaRPr b="0" i="0" sz="1500" u="none" cap="none" strike="noStrike">
              <a:solidFill>
                <a:schemeClr val="dk1"/>
              </a:solidFill>
              <a:latin typeface="Calibri"/>
              <a:ea typeface="Calibri"/>
              <a:cs typeface="Calibri"/>
              <a:sym typeface="Calibri"/>
            </a:endParaRPr>
          </a:p>
        </p:txBody>
      </p:sp>
      <p:sp>
        <p:nvSpPr>
          <p:cNvPr id="297" name="Google Shape;297;p10"/>
          <p:cNvSpPr/>
          <p:nvPr/>
        </p:nvSpPr>
        <p:spPr>
          <a:xfrm>
            <a:off x="685800" y="4343400"/>
            <a:ext cx="502920" cy="5029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0"/>
          <p:cNvSpPr/>
          <p:nvPr/>
        </p:nvSpPr>
        <p:spPr>
          <a:xfrm>
            <a:off x="685800" y="43434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800"/>
              <a:buFont typeface="Cambria"/>
              <a:buNone/>
            </a:pPr>
            <a:r>
              <a:rPr b="1" i="0" lang="en-US" sz="1800" u="none" cap="none" strike="noStrike">
                <a:solidFill>
                  <a:srgbClr val="1B2A41"/>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cxnSp>
        <p:nvCxnSpPr>
          <p:cNvPr id="299" name="Google Shape;299;p10"/>
          <p:cNvCxnSpPr/>
          <p:nvPr/>
        </p:nvCxnSpPr>
        <p:spPr>
          <a:xfrm>
            <a:off x="937260" y="4846320"/>
            <a:ext cx="0" cy="411480"/>
          </a:xfrm>
          <a:prstGeom prst="straightConnector1">
            <a:avLst/>
          </a:prstGeom>
          <a:noFill/>
          <a:ln cap="flat" cmpd="sng" w="19050">
            <a:solidFill>
              <a:srgbClr val="C9A15A"/>
            </a:solidFill>
            <a:prstDash val="dash"/>
            <a:round/>
            <a:headEnd len="sm" w="sm" type="none"/>
            <a:tailEnd len="sm" w="sm" type="none"/>
          </a:ln>
        </p:spPr>
      </p:cxnSp>
      <p:sp>
        <p:nvSpPr>
          <p:cNvPr id="300" name="Google Shape;300;p10"/>
          <p:cNvSpPr/>
          <p:nvPr/>
        </p:nvSpPr>
        <p:spPr>
          <a:xfrm>
            <a:off x="1463040" y="4297680"/>
            <a:ext cx="95097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500"/>
              <a:buFont typeface="Calibri"/>
              <a:buNone/>
            </a:pPr>
            <a:r>
              <a:rPr b="0" i="0" lang="en-US" sz="1500" u="none" cap="none" strike="noStrike">
                <a:solidFill>
                  <a:srgbClr val="EDE9DB"/>
                </a:solidFill>
                <a:latin typeface="Calibri"/>
                <a:ea typeface="Calibri"/>
                <a:cs typeface="Calibri"/>
                <a:sym typeface="Calibri"/>
              </a:rPr>
              <a:t>ბიუჯეტის შემოწმება და გადახდა (pay_for_booking)</a:t>
            </a:r>
            <a:endParaRPr b="0" i="0" sz="1500" u="none" cap="none" strike="noStrike">
              <a:solidFill>
                <a:schemeClr val="dk1"/>
              </a:solidFill>
              <a:latin typeface="Calibri"/>
              <a:ea typeface="Calibri"/>
              <a:cs typeface="Calibri"/>
              <a:sym typeface="Calibri"/>
            </a:endParaRPr>
          </a:p>
        </p:txBody>
      </p:sp>
      <p:sp>
        <p:nvSpPr>
          <p:cNvPr id="301" name="Google Shape;301;p10"/>
          <p:cNvSpPr/>
          <p:nvPr/>
        </p:nvSpPr>
        <p:spPr>
          <a:xfrm>
            <a:off x="685800" y="5257800"/>
            <a:ext cx="502920" cy="5029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0"/>
          <p:cNvSpPr/>
          <p:nvPr/>
        </p:nvSpPr>
        <p:spPr>
          <a:xfrm>
            <a:off x="685800" y="525780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800"/>
              <a:buFont typeface="Cambria"/>
              <a:buNone/>
            </a:pPr>
            <a:r>
              <a:rPr b="1" i="0" lang="en-US" sz="1800" u="none" cap="none" strike="noStrike">
                <a:solidFill>
                  <a:srgbClr val="1B2A41"/>
                </a:solidFill>
                <a:latin typeface="Cambria"/>
                <a:ea typeface="Cambria"/>
                <a:cs typeface="Cambria"/>
                <a:sym typeface="Cambria"/>
              </a:rPr>
              <a:t>5</a:t>
            </a:r>
            <a:endParaRPr b="0" i="0" sz="1800" u="none" cap="none" strike="noStrike">
              <a:solidFill>
                <a:schemeClr val="dk1"/>
              </a:solidFill>
              <a:latin typeface="Calibri"/>
              <a:ea typeface="Calibri"/>
              <a:cs typeface="Calibri"/>
              <a:sym typeface="Calibri"/>
            </a:endParaRPr>
          </a:p>
        </p:txBody>
      </p:sp>
      <p:sp>
        <p:nvSpPr>
          <p:cNvPr id="303" name="Google Shape;303;p10"/>
          <p:cNvSpPr/>
          <p:nvPr/>
        </p:nvSpPr>
        <p:spPr>
          <a:xfrm>
            <a:off x="1463040" y="5212080"/>
            <a:ext cx="95097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500"/>
              <a:buFont typeface="Calibri"/>
              <a:buNone/>
            </a:pPr>
            <a:r>
              <a:rPr b="0" i="0" lang="en-US" sz="1500" u="none" cap="none" strike="noStrike">
                <a:solidFill>
                  <a:srgbClr val="EDE9DB"/>
                </a:solidFill>
                <a:latin typeface="Calibri"/>
                <a:ea typeface="Calibri"/>
                <a:cs typeface="Calibri"/>
                <a:sym typeface="Calibri"/>
              </a:rPr>
              <a:t>ქულების დარიცხვა და ლოგირება bookings.log-ში</a:t>
            </a:r>
            <a:endParaRPr b="0" i="0" sz="1500" u="none" cap="none" strike="noStrike">
              <a:solidFill>
                <a:schemeClr val="dk1"/>
              </a:solidFill>
              <a:latin typeface="Calibri"/>
              <a:ea typeface="Calibri"/>
              <a:cs typeface="Calibri"/>
              <a:sym typeface="Calibri"/>
            </a:endParaRPr>
          </a:p>
        </p:txBody>
      </p:sp>
      <p:sp>
        <p:nvSpPr>
          <p:cNvPr id="304" name="Google Shape;304;p10"/>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E"/>
        </a:solidFill>
      </p:bgPr>
    </p:bg>
    <p:spTree>
      <p:nvGrpSpPr>
        <p:cNvPr id="309" name="Shape 309"/>
        <p:cNvGrpSpPr/>
        <p:nvPr/>
      </p:nvGrpSpPr>
      <p:grpSpPr>
        <a:xfrm>
          <a:off x="0" y="0"/>
          <a:ext cx="0" cy="0"/>
          <a:chOff x="0" y="0"/>
          <a:chExt cx="0" cy="0"/>
        </a:xfrm>
      </p:grpSpPr>
      <p:sp>
        <p:nvSpPr>
          <p:cNvPr id="310" name="Google Shape;310;p11"/>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ვალიდაცია და ბიზნეს წესები</a:t>
            </a:r>
            <a:endParaRPr b="0" i="0" sz="2800" u="none" cap="none" strike="noStrike">
              <a:solidFill>
                <a:schemeClr val="dk1"/>
              </a:solidFill>
              <a:latin typeface="Calibri"/>
              <a:ea typeface="Calibri"/>
              <a:cs typeface="Calibri"/>
              <a:sym typeface="Calibri"/>
            </a:endParaRPr>
          </a:p>
        </p:txBody>
      </p:sp>
      <p:sp>
        <p:nvSpPr>
          <p:cNvPr id="311" name="Google Shape;311;p11"/>
          <p:cNvSpPr/>
          <p:nvPr/>
        </p:nvSpPr>
        <p:spPr>
          <a:xfrm>
            <a:off x="548640" y="96012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400"/>
              <a:buFont typeface="Calibri"/>
              <a:buNone/>
            </a:pPr>
            <a:r>
              <a:rPr b="0" i="0" lang="en-US" sz="1400" u="none" cap="none" strike="noStrike">
                <a:solidFill>
                  <a:srgbClr val="6B665A"/>
                </a:solidFill>
                <a:latin typeface="Calibri"/>
                <a:ea typeface="Calibri"/>
                <a:cs typeface="Calibri"/>
                <a:sym typeface="Calibri"/>
              </a:rPr>
              <a:t>სისტემა იცავს რამდენიმე წესს, რომ თავიდან აიცილოს არასწორი მდგომარეობები.</a:t>
            </a:r>
            <a:endParaRPr b="0" i="0" sz="1400" u="none" cap="none" strike="noStrike">
              <a:solidFill>
                <a:schemeClr val="dk1"/>
              </a:solidFill>
              <a:latin typeface="Calibri"/>
              <a:ea typeface="Calibri"/>
              <a:cs typeface="Calibri"/>
              <a:sym typeface="Calibri"/>
            </a:endParaRPr>
          </a:p>
        </p:txBody>
      </p:sp>
      <p:sp>
        <p:nvSpPr>
          <p:cNvPr id="312" name="Google Shape;312;p11"/>
          <p:cNvSpPr/>
          <p:nvPr/>
        </p:nvSpPr>
        <p:spPr>
          <a:xfrm>
            <a:off x="548640" y="1874520"/>
            <a:ext cx="5372100" cy="1417320"/>
          </a:xfrm>
          <a:prstGeom prst="roundRect">
            <a:avLst>
              <a:gd fmla="val 4516"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777240" y="2194560"/>
            <a:ext cx="777240" cy="77724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shield_navy.png" id="314" name="Google Shape;314;p11"/>
          <p:cNvPicPr preferRelativeResize="0"/>
          <p:nvPr/>
        </p:nvPicPr>
        <p:blipFill rotWithShape="1">
          <a:blip r:embed="rId3">
            <a:alphaModFix/>
          </a:blip>
          <a:srcRect b="0" l="0" r="0" t="0"/>
          <a:stretch/>
        </p:blipFill>
        <p:spPr>
          <a:xfrm>
            <a:off x="960120" y="2377440"/>
            <a:ext cx="411480" cy="411480"/>
          </a:xfrm>
          <a:prstGeom prst="rect">
            <a:avLst/>
          </a:prstGeom>
          <a:noFill/>
          <a:ln>
            <a:noFill/>
          </a:ln>
        </p:spPr>
      </p:pic>
      <p:sp>
        <p:nvSpPr>
          <p:cNvPr id="315" name="Google Shape;315;p11"/>
          <p:cNvSpPr/>
          <p:nvPr/>
        </p:nvSpPr>
        <p:spPr>
          <a:xfrm>
            <a:off x="1737360" y="2057400"/>
            <a:ext cx="39547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400"/>
              <a:buFont typeface="Cambria"/>
              <a:buNone/>
            </a:pPr>
            <a:r>
              <a:rPr b="1" i="0" lang="en-US" sz="1400" u="none" cap="none" strike="noStrike">
                <a:solidFill>
                  <a:srgbClr val="1B2A41"/>
                </a:solidFill>
                <a:latin typeface="Cambria"/>
                <a:ea typeface="Cambria"/>
                <a:cs typeface="Cambria"/>
                <a:sym typeface="Cambria"/>
              </a:rPr>
              <a:t>მხოლოდ თავისუფალი ოთახები</a:t>
            </a:r>
            <a:endParaRPr b="0" i="0" sz="1400" u="none" cap="none" strike="noStrike">
              <a:solidFill>
                <a:schemeClr val="dk1"/>
              </a:solidFill>
              <a:latin typeface="Calibri"/>
              <a:ea typeface="Calibri"/>
              <a:cs typeface="Calibri"/>
              <a:sym typeface="Calibri"/>
            </a:endParaRPr>
          </a:p>
        </p:txBody>
      </p:sp>
      <p:sp>
        <p:nvSpPr>
          <p:cNvPr id="316" name="Google Shape;316;p11"/>
          <p:cNvSpPr/>
          <p:nvPr/>
        </p:nvSpPr>
        <p:spPr>
          <a:xfrm>
            <a:off x="1737360" y="2514600"/>
            <a:ext cx="39547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665A"/>
              </a:buClr>
              <a:buSzPts val="1100"/>
              <a:buFont typeface="Calibri"/>
              <a:buNone/>
            </a:pPr>
            <a:r>
              <a:rPr b="0" i="0" lang="en-US" sz="1100" u="none" cap="none" strike="noStrike">
                <a:solidFill>
                  <a:srgbClr val="6B665A"/>
                </a:solidFill>
                <a:latin typeface="Calibri"/>
                <a:ea typeface="Calibri"/>
                <a:cs typeface="Calibri"/>
                <a:sym typeface="Calibri"/>
              </a:rPr>
              <a:t>დაკავებული ან არარსებული ოთახის დაჯავშნა ავტომატურად ჩავარდება</a:t>
            </a:r>
            <a:endParaRPr b="0" i="0" sz="1100" u="none" cap="none" strike="noStrike">
              <a:solidFill>
                <a:schemeClr val="dk1"/>
              </a:solidFill>
              <a:latin typeface="Calibri"/>
              <a:ea typeface="Calibri"/>
              <a:cs typeface="Calibri"/>
              <a:sym typeface="Calibri"/>
            </a:endParaRPr>
          </a:p>
        </p:txBody>
      </p:sp>
      <p:sp>
        <p:nvSpPr>
          <p:cNvPr id="317" name="Google Shape;317;p11"/>
          <p:cNvSpPr/>
          <p:nvPr/>
        </p:nvSpPr>
        <p:spPr>
          <a:xfrm>
            <a:off x="6240780" y="1874520"/>
            <a:ext cx="5372100" cy="1417320"/>
          </a:xfrm>
          <a:prstGeom prst="roundRect">
            <a:avLst>
              <a:gd fmla="val 4516"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6469380" y="2194560"/>
            <a:ext cx="777240" cy="77724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ins_navy.png" id="319" name="Google Shape;319;p11"/>
          <p:cNvPicPr preferRelativeResize="0"/>
          <p:nvPr/>
        </p:nvPicPr>
        <p:blipFill rotWithShape="1">
          <a:blip r:embed="rId4">
            <a:alphaModFix/>
          </a:blip>
          <a:srcRect b="0" l="0" r="0" t="0"/>
          <a:stretch/>
        </p:blipFill>
        <p:spPr>
          <a:xfrm>
            <a:off x="6652260" y="2377440"/>
            <a:ext cx="411480" cy="411480"/>
          </a:xfrm>
          <a:prstGeom prst="rect">
            <a:avLst/>
          </a:prstGeom>
          <a:noFill/>
          <a:ln>
            <a:noFill/>
          </a:ln>
        </p:spPr>
      </p:pic>
      <p:sp>
        <p:nvSpPr>
          <p:cNvPr id="320" name="Google Shape;320;p11"/>
          <p:cNvSpPr/>
          <p:nvPr/>
        </p:nvSpPr>
        <p:spPr>
          <a:xfrm>
            <a:off x="7429500" y="2057400"/>
            <a:ext cx="39547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400"/>
              <a:buFont typeface="Cambria"/>
              <a:buNone/>
            </a:pPr>
            <a:r>
              <a:rPr b="1" i="0" lang="en-US" sz="1400" u="none" cap="none" strike="noStrike">
                <a:solidFill>
                  <a:srgbClr val="1B2A41"/>
                </a:solidFill>
                <a:latin typeface="Cambria"/>
                <a:ea typeface="Cambria"/>
                <a:cs typeface="Cambria"/>
                <a:sym typeface="Cambria"/>
              </a:rPr>
              <a:t>ბიუჯეტის კონტროლი</a:t>
            </a:r>
            <a:endParaRPr b="0" i="0" sz="1400" u="none" cap="none" strike="noStrike">
              <a:solidFill>
                <a:schemeClr val="dk1"/>
              </a:solidFill>
              <a:latin typeface="Calibri"/>
              <a:ea typeface="Calibri"/>
              <a:cs typeface="Calibri"/>
              <a:sym typeface="Calibri"/>
            </a:endParaRPr>
          </a:p>
        </p:txBody>
      </p:sp>
      <p:sp>
        <p:nvSpPr>
          <p:cNvPr id="321" name="Google Shape;321;p11"/>
          <p:cNvSpPr/>
          <p:nvPr/>
        </p:nvSpPr>
        <p:spPr>
          <a:xfrm>
            <a:off x="7429500" y="2514600"/>
            <a:ext cx="39547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665A"/>
              </a:buClr>
              <a:buSzPts val="1100"/>
              <a:buFont typeface="Calibri"/>
              <a:buNone/>
            </a:pPr>
            <a:r>
              <a:rPr b="0" i="0" lang="en-US" sz="1100" u="none" cap="none" strike="noStrike">
                <a:solidFill>
                  <a:srgbClr val="6B665A"/>
                </a:solidFill>
                <a:latin typeface="Calibri"/>
                <a:ea typeface="Calibri"/>
                <a:cs typeface="Calibri"/>
                <a:sym typeface="Calibri"/>
              </a:rPr>
              <a:t>გადახდა არ შესრულდება, თუ ჯამური ფასი აღემატება მომხმარებლის ბიუჯეტს</a:t>
            </a:r>
            <a:endParaRPr b="0" i="0" sz="1100" u="none" cap="none" strike="noStrike">
              <a:solidFill>
                <a:schemeClr val="dk1"/>
              </a:solidFill>
              <a:latin typeface="Calibri"/>
              <a:ea typeface="Calibri"/>
              <a:cs typeface="Calibri"/>
              <a:sym typeface="Calibri"/>
            </a:endParaRPr>
          </a:p>
        </p:txBody>
      </p:sp>
      <p:sp>
        <p:nvSpPr>
          <p:cNvPr id="322" name="Google Shape;322;p11"/>
          <p:cNvSpPr/>
          <p:nvPr/>
        </p:nvSpPr>
        <p:spPr>
          <a:xfrm>
            <a:off x="548640" y="3566160"/>
            <a:ext cx="5372100" cy="1417320"/>
          </a:xfrm>
          <a:prstGeom prst="roundRect">
            <a:avLst>
              <a:gd fmla="val 4516"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777240" y="3886200"/>
            <a:ext cx="777240" cy="77724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navy.png" id="324" name="Google Shape;324;p11"/>
          <p:cNvPicPr preferRelativeResize="0"/>
          <p:nvPr/>
        </p:nvPicPr>
        <p:blipFill rotWithShape="1">
          <a:blip r:embed="rId5">
            <a:alphaModFix/>
          </a:blip>
          <a:srcRect b="0" l="0" r="0" t="0"/>
          <a:stretch/>
        </p:blipFill>
        <p:spPr>
          <a:xfrm>
            <a:off x="960120" y="4069080"/>
            <a:ext cx="411480" cy="411480"/>
          </a:xfrm>
          <a:prstGeom prst="rect">
            <a:avLst/>
          </a:prstGeom>
          <a:noFill/>
          <a:ln>
            <a:noFill/>
          </a:ln>
        </p:spPr>
      </p:pic>
      <p:sp>
        <p:nvSpPr>
          <p:cNvPr id="325" name="Google Shape;325;p11"/>
          <p:cNvSpPr/>
          <p:nvPr/>
        </p:nvSpPr>
        <p:spPr>
          <a:xfrm>
            <a:off x="1737360" y="3749040"/>
            <a:ext cx="39547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400"/>
              <a:buFont typeface="Cambria"/>
              <a:buNone/>
            </a:pPr>
            <a:r>
              <a:rPr b="1" i="0" lang="en-US" sz="1400" u="none" cap="none" strike="noStrike">
                <a:solidFill>
                  <a:srgbClr val="1B2A41"/>
                </a:solidFill>
                <a:latin typeface="Cambria"/>
                <a:ea typeface="Cambria"/>
                <a:cs typeface="Cambria"/>
                <a:sym typeface="Cambria"/>
              </a:rPr>
              <a:t>დადებითი ღამეების რაოდენობა</a:t>
            </a:r>
            <a:endParaRPr b="0" i="0" sz="1400" u="none" cap="none" strike="noStrike">
              <a:solidFill>
                <a:schemeClr val="dk1"/>
              </a:solidFill>
              <a:latin typeface="Calibri"/>
              <a:ea typeface="Calibri"/>
              <a:cs typeface="Calibri"/>
              <a:sym typeface="Calibri"/>
            </a:endParaRPr>
          </a:p>
        </p:txBody>
      </p:sp>
      <p:sp>
        <p:nvSpPr>
          <p:cNvPr id="326" name="Google Shape;326;p11"/>
          <p:cNvSpPr/>
          <p:nvPr/>
        </p:nvSpPr>
        <p:spPr>
          <a:xfrm>
            <a:off x="1737360" y="4206240"/>
            <a:ext cx="39547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665A"/>
              </a:buClr>
              <a:buSzPts val="1100"/>
              <a:buFont typeface="Calibri"/>
              <a:buNone/>
            </a:pPr>
            <a:r>
              <a:rPr b="0" i="0" lang="en-US" sz="1100" u="none" cap="none" strike="noStrike">
                <a:solidFill>
                  <a:srgbClr val="6B665A"/>
                </a:solidFill>
                <a:latin typeface="Calibri"/>
                <a:ea typeface="Calibri"/>
                <a:cs typeface="Calibri"/>
                <a:sym typeface="Calibri"/>
              </a:rPr>
              <a:t>calculate_price() აგდებს ValueError-ს, თუ ღამეების რაოდენობა ≤ 0</a:t>
            </a:r>
            <a:endParaRPr b="0" i="0" sz="1100" u="none" cap="none" strike="noStrike">
              <a:solidFill>
                <a:schemeClr val="dk1"/>
              </a:solidFill>
              <a:latin typeface="Calibri"/>
              <a:ea typeface="Calibri"/>
              <a:cs typeface="Calibri"/>
              <a:sym typeface="Calibri"/>
            </a:endParaRPr>
          </a:p>
        </p:txBody>
      </p:sp>
      <p:sp>
        <p:nvSpPr>
          <p:cNvPr id="327" name="Google Shape;327;p11"/>
          <p:cNvSpPr/>
          <p:nvPr/>
        </p:nvSpPr>
        <p:spPr>
          <a:xfrm>
            <a:off x="6240780" y="3566160"/>
            <a:ext cx="5372100" cy="1417320"/>
          </a:xfrm>
          <a:prstGeom prst="roundRect">
            <a:avLst>
              <a:gd fmla="val 4516"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6469380" y="3886200"/>
            <a:ext cx="777240" cy="77724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lipboard_navy.png" id="329" name="Google Shape;329;p11"/>
          <p:cNvPicPr preferRelativeResize="0"/>
          <p:nvPr/>
        </p:nvPicPr>
        <p:blipFill rotWithShape="1">
          <a:blip r:embed="rId6">
            <a:alphaModFix/>
          </a:blip>
          <a:srcRect b="0" l="0" r="0" t="0"/>
          <a:stretch/>
        </p:blipFill>
        <p:spPr>
          <a:xfrm>
            <a:off x="6652260" y="4069080"/>
            <a:ext cx="411480" cy="411480"/>
          </a:xfrm>
          <a:prstGeom prst="rect">
            <a:avLst/>
          </a:prstGeom>
          <a:noFill/>
          <a:ln>
            <a:noFill/>
          </a:ln>
        </p:spPr>
      </p:pic>
      <p:sp>
        <p:nvSpPr>
          <p:cNvPr id="330" name="Google Shape;330;p11"/>
          <p:cNvSpPr/>
          <p:nvPr/>
        </p:nvSpPr>
        <p:spPr>
          <a:xfrm>
            <a:off x="7429500" y="3749040"/>
            <a:ext cx="39547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400"/>
              <a:buFont typeface="Cambria"/>
              <a:buNone/>
            </a:pPr>
            <a:r>
              <a:rPr b="1" i="0" lang="en-US" sz="1400" u="none" cap="none" strike="noStrike">
                <a:solidFill>
                  <a:srgbClr val="1B2A41"/>
                </a:solidFill>
                <a:latin typeface="Cambria"/>
                <a:ea typeface="Cambria"/>
                <a:cs typeface="Cambria"/>
                <a:sym typeface="Cambria"/>
              </a:rPr>
              <a:t>ყველა შემთხვევის ლოგირება</a:t>
            </a:r>
            <a:endParaRPr b="0" i="0" sz="1400" u="none" cap="none" strike="noStrike">
              <a:solidFill>
                <a:schemeClr val="dk1"/>
              </a:solidFill>
              <a:latin typeface="Calibri"/>
              <a:ea typeface="Calibri"/>
              <a:cs typeface="Calibri"/>
              <a:sym typeface="Calibri"/>
            </a:endParaRPr>
          </a:p>
        </p:txBody>
      </p:sp>
      <p:sp>
        <p:nvSpPr>
          <p:cNvPr id="331" name="Google Shape;331;p11"/>
          <p:cNvSpPr/>
          <p:nvPr/>
        </p:nvSpPr>
        <p:spPr>
          <a:xfrm>
            <a:off x="7429500" y="4206240"/>
            <a:ext cx="39547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665A"/>
              </a:buClr>
              <a:buSzPts val="1100"/>
              <a:buFont typeface="Calibri"/>
              <a:buNone/>
            </a:pPr>
            <a:r>
              <a:rPr b="0" i="0" lang="en-US" sz="1100" u="none" cap="none" strike="noStrike">
                <a:solidFill>
                  <a:srgbClr val="6B665A"/>
                </a:solidFill>
                <a:latin typeface="Calibri"/>
                <a:ea typeface="Calibri"/>
                <a:cs typeface="Calibri"/>
                <a:sym typeface="Calibri"/>
              </a:rPr>
              <a:t>წარმატებული და წარუმატებელი მოქმედებები ორივე ილოგება</a:t>
            </a:r>
            <a:endParaRPr b="0" i="0" sz="1100" u="none" cap="none" strike="noStrike">
              <a:solidFill>
                <a:schemeClr val="dk1"/>
              </a:solidFill>
              <a:latin typeface="Calibri"/>
              <a:ea typeface="Calibri"/>
              <a:cs typeface="Calibri"/>
              <a:sym typeface="Calibri"/>
            </a:endParaRPr>
          </a:p>
        </p:txBody>
      </p:sp>
      <p:sp>
        <p:nvSpPr>
          <p:cNvPr id="332" name="Google Shape;332;p11"/>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7" name="Shape 337"/>
        <p:cNvGrpSpPr/>
        <p:nvPr/>
      </p:nvGrpSpPr>
      <p:grpSpPr>
        <a:xfrm>
          <a:off x="0" y="0"/>
          <a:ext cx="0" cy="0"/>
          <a:chOff x="0" y="0"/>
          <a:chExt cx="0" cy="0"/>
        </a:xfrm>
      </p:grpSpPr>
      <p:sp>
        <p:nvSpPr>
          <p:cNvPr id="338" name="Google Shape;338;p12"/>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ჯილდოს ქულები და ლოგირება</a:t>
            </a:r>
            <a:endParaRPr b="0" i="0" sz="2800" u="none" cap="none" strike="noStrike">
              <a:solidFill>
                <a:schemeClr val="dk1"/>
              </a:solidFill>
              <a:latin typeface="Calibri"/>
              <a:ea typeface="Calibri"/>
              <a:cs typeface="Calibri"/>
              <a:sym typeface="Calibri"/>
            </a:endParaRPr>
          </a:p>
        </p:txBody>
      </p:sp>
      <p:sp>
        <p:nvSpPr>
          <p:cNvPr id="339" name="Google Shape;339;p12"/>
          <p:cNvSpPr/>
          <p:nvPr/>
        </p:nvSpPr>
        <p:spPr>
          <a:xfrm>
            <a:off x="548640" y="1371600"/>
            <a:ext cx="5212080" cy="4297680"/>
          </a:xfrm>
          <a:prstGeom prst="roundRect">
            <a:avLst>
              <a:gd fmla="val 1489" name="adj"/>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p:nvPr/>
        </p:nvSpPr>
        <p:spPr>
          <a:xfrm>
            <a:off x="822960" y="1645920"/>
            <a:ext cx="685800" cy="68580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star_navy.png" id="341" name="Google Shape;341;p12"/>
          <p:cNvPicPr preferRelativeResize="0"/>
          <p:nvPr/>
        </p:nvPicPr>
        <p:blipFill rotWithShape="1">
          <a:blip r:embed="rId3">
            <a:alphaModFix/>
          </a:blip>
          <a:srcRect b="0" l="0" r="0" t="0"/>
          <a:stretch/>
        </p:blipFill>
        <p:spPr>
          <a:xfrm>
            <a:off x="978408" y="1801368"/>
            <a:ext cx="374904" cy="374904"/>
          </a:xfrm>
          <a:prstGeom prst="rect">
            <a:avLst/>
          </a:prstGeom>
          <a:noFill/>
          <a:ln>
            <a:noFill/>
          </a:ln>
        </p:spPr>
      </p:pic>
      <p:sp>
        <p:nvSpPr>
          <p:cNvPr id="342" name="Google Shape;342;p12"/>
          <p:cNvSpPr/>
          <p:nvPr/>
        </p:nvSpPr>
        <p:spPr>
          <a:xfrm>
            <a:off x="1691640" y="1645920"/>
            <a:ext cx="384048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600"/>
              <a:buFont typeface="Cambria"/>
              <a:buNone/>
            </a:pPr>
            <a:r>
              <a:rPr b="1" i="0" lang="en-US" sz="1600" u="none" cap="none" strike="noStrike">
                <a:solidFill>
                  <a:srgbClr val="1B2A41"/>
                </a:solidFill>
                <a:latin typeface="Cambria"/>
                <a:ea typeface="Cambria"/>
                <a:cs typeface="Cambria"/>
                <a:sym typeface="Cambria"/>
              </a:rPr>
              <a:t>ლოიალობის ქულები</a:t>
            </a:r>
            <a:endParaRPr b="0" i="0" sz="1600" u="none" cap="none" strike="noStrike">
              <a:solidFill>
                <a:schemeClr val="dk1"/>
              </a:solidFill>
              <a:latin typeface="Calibri"/>
              <a:ea typeface="Calibri"/>
              <a:cs typeface="Calibri"/>
              <a:sym typeface="Calibri"/>
            </a:endParaRPr>
          </a:p>
        </p:txBody>
      </p:sp>
      <p:sp>
        <p:nvSpPr>
          <p:cNvPr id="343" name="Google Shape;343;p12"/>
          <p:cNvSpPr/>
          <p:nvPr/>
        </p:nvSpPr>
        <p:spPr>
          <a:xfrm>
            <a:off x="822960" y="2514600"/>
            <a:ext cx="466344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50"/>
              <a:buFont typeface="Calibri"/>
              <a:buNone/>
            </a:pPr>
            <a:r>
              <a:rPr b="0" i="0" lang="en-US" sz="1250" u="none" cap="none" strike="noStrike">
                <a:solidFill>
                  <a:srgbClr val="2B2B28"/>
                </a:solidFill>
                <a:latin typeface="Calibri"/>
                <a:ea typeface="Calibri"/>
                <a:cs typeface="Calibri"/>
                <a:sym typeface="Calibri"/>
              </a:rPr>
              <a:t>თითოეულ წარმატებულ გადახდაზე მომხმარებელი იღებს 1 ქულას ყოველ 10 ₾-ზე (int(total_price // 10)). ეს ამარტივებს მომავალში ფასდაკლების ან VIP დონეების დამატებას.</a:t>
            </a:r>
            <a:endParaRPr b="0" i="0" sz="1250" u="none" cap="none" strike="noStrike">
              <a:solidFill>
                <a:schemeClr val="dk1"/>
              </a:solidFill>
              <a:latin typeface="Calibri"/>
              <a:ea typeface="Calibri"/>
              <a:cs typeface="Calibri"/>
              <a:sym typeface="Calibri"/>
            </a:endParaRPr>
          </a:p>
        </p:txBody>
      </p:sp>
      <p:sp>
        <p:nvSpPr>
          <p:cNvPr id="344" name="Google Shape;344;p12"/>
          <p:cNvSpPr/>
          <p:nvPr/>
        </p:nvSpPr>
        <p:spPr>
          <a:xfrm>
            <a:off x="822960" y="3703320"/>
            <a:ext cx="4663440" cy="1737360"/>
          </a:xfrm>
          <a:prstGeom prst="roundRect">
            <a:avLst>
              <a:gd fmla="val 2632"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a:off x="1005840" y="3886200"/>
            <a:ext cx="429768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&gt;&gt;&gt; customer.pay_for_booking(780)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True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&gt;&gt;&gt; customer.reward_points</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78</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&gt;&gt;&gt; customer.budget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220.0</a:t>
            </a:r>
            <a:endParaRPr b="0" i="0" sz="1100" u="none" cap="none" strike="noStrike">
              <a:solidFill>
                <a:schemeClr val="dk1"/>
              </a:solidFill>
              <a:latin typeface="Calibri"/>
              <a:ea typeface="Calibri"/>
              <a:cs typeface="Calibri"/>
              <a:sym typeface="Calibri"/>
            </a:endParaRPr>
          </a:p>
        </p:txBody>
      </p:sp>
      <p:sp>
        <p:nvSpPr>
          <p:cNvPr id="346" name="Google Shape;346;p12"/>
          <p:cNvSpPr/>
          <p:nvPr/>
        </p:nvSpPr>
        <p:spPr>
          <a:xfrm>
            <a:off x="6126480" y="1371600"/>
            <a:ext cx="5303520" cy="4297680"/>
          </a:xfrm>
          <a:prstGeom prst="roundRect">
            <a:avLst>
              <a:gd fmla="val 1489" name="adj"/>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6400800" y="1645920"/>
            <a:ext cx="685800" cy="68580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lipboard_navy.png" id="348" name="Google Shape;348;p12"/>
          <p:cNvPicPr preferRelativeResize="0"/>
          <p:nvPr/>
        </p:nvPicPr>
        <p:blipFill rotWithShape="1">
          <a:blip r:embed="rId4">
            <a:alphaModFix/>
          </a:blip>
          <a:srcRect b="0" l="0" r="0" t="0"/>
          <a:stretch/>
        </p:blipFill>
        <p:spPr>
          <a:xfrm>
            <a:off x="6556248" y="1801368"/>
            <a:ext cx="374904" cy="374904"/>
          </a:xfrm>
          <a:prstGeom prst="rect">
            <a:avLst/>
          </a:prstGeom>
          <a:noFill/>
          <a:ln>
            <a:noFill/>
          </a:ln>
        </p:spPr>
      </p:pic>
      <p:sp>
        <p:nvSpPr>
          <p:cNvPr id="349" name="Google Shape;349;p12"/>
          <p:cNvSpPr/>
          <p:nvPr/>
        </p:nvSpPr>
        <p:spPr>
          <a:xfrm>
            <a:off x="7269480" y="1645920"/>
            <a:ext cx="39319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600"/>
              <a:buFont typeface="Cambria"/>
              <a:buNone/>
            </a:pPr>
            <a:r>
              <a:rPr b="1" i="0" lang="en-US" sz="1600" u="none" cap="none" strike="noStrike">
                <a:solidFill>
                  <a:srgbClr val="1B2A41"/>
                </a:solidFill>
                <a:latin typeface="Cambria"/>
                <a:ea typeface="Cambria"/>
                <a:cs typeface="Cambria"/>
                <a:sym typeface="Cambria"/>
              </a:rPr>
              <a:t>ლოგირება</a:t>
            </a:r>
            <a:endParaRPr b="0" i="0" sz="1600" u="none" cap="none" strike="noStrike">
              <a:solidFill>
                <a:schemeClr val="dk1"/>
              </a:solidFill>
              <a:latin typeface="Calibri"/>
              <a:ea typeface="Calibri"/>
              <a:cs typeface="Calibri"/>
              <a:sym typeface="Calibri"/>
            </a:endParaRPr>
          </a:p>
        </p:txBody>
      </p:sp>
      <p:sp>
        <p:nvSpPr>
          <p:cNvPr id="350" name="Google Shape;350;p12"/>
          <p:cNvSpPr/>
          <p:nvPr/>
        </p:nvSpPr>
        <p:spPr>
          <a:xfrm>
            <a:off x="6400800" y="2514600"/>
            <a:ext cx="475488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50"/>
              <a:buFont typeface="Calibri"/>
              <a:buNone/>
            </a:pPr>
            <a:r>
              <a:rPr b="0" i="0" lang="en-US" sz="1250" u="none" cap="none" strike="noStrike">
                <a:solidFill>
                  <a:srgbClr val="2B2B28"/>
                </a:solidFill>
                <a:latin typeface="Calibri"/>
                <a:ea typeface="Calibri"/>
                <a:cs typeface="Calibri"/>
                <a:sym typeface="Calibri"/>
              </a:rPr>
              <a:t>Python-ის logging მოდული წერს ყოველ დაჯავშნას, გადახდის შეცდომას და გაუქმებას bookings.log ფაილში, დროის შტამპითა და დონით — print()-ის ნაცვლად.</a:t>
            </a:r>
            <a:endParaRPr b="0" i="0" sz="1250" u="none" cap="none" strike="noStrike">
              <a:solidFill>
                <a:schemeClr val="dk1"/>
              </a:solidFill>
              <a:latin typeface="Calibri"/>
              <a:ea typeface="Calibri"/>
              <a:cs typeface="Calibri"/>
              <a:sym typeface="Calibri"/>
            </a:endParaRPr>
          </a:p>
        </p:txBody>
      </p:sp>
      <p:sp>
        <p:nvSpPr>
          <p:cNvPr id="351" name="Google Shape;351;p12"/>
          <p:cNvSpPr/>
          <p:nvPr/>
        </p:nvSpPr>
        <p:spPr>
          <a:xfrm>
            <a:off x="6400800" y="3703320"/>
            <a:ext cx="4754880" cy="1737360"/>
          </a:xfrm>
          <a:prstGeom prst="roundRect">
            <a:avLst>
              <a:gd fmla="val 2632"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
          <p:cNvSpPr/>
          <p:nvPr/>
        </p:nvSpPr>
        <p:spPr>
          <a:xfrm>
            <a:off x="6583680" y="3886200"/>
            <a:ext cx="4389120" cy="13716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2026-07-15 12:04:02 | INFO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Booking confirmed | Customer: Alice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Room #201 (Double) | Total: 780.0</a:t>
            </a:r>
            <a:endParaRPr b="0" i="0" sz="1100" u="none" cap="none" strike="noStrike">
              <a:solidFill>
                <a:schemeClr val="dk1"/>
              </a:solidFill>
              <a:latin typeface="Calibri"/>
              <a:ea typeface="Calibri"/>
              <a:cs typeface="Calibri"/>
              <a:sym typeface="Calibri"/>
            </a:endParaRPr>
          </a:p>
        </p:txBody>
      </p:sp>
      <p:sp>
        <p:nvSpPr>
          <p:cNvPr id="353" name="Google Shape;353;p12"/>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13"/>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ტესტირება — unittest</a:t>
            </a:r>
            <a:endParaRPr b="0" i="0" sz="2800" u="none" cap="none" strike="noStrike">
              <a:solidFill>
                <a:schemeClr val="dk1"/>
              </a:solidFill>
              <a:latin typeface="Calibri"/>
              <a:ea typeface="Calibri"/>
              <a:cs typeface="Calibri"/>
              <a:sym typeface="Calibri"/>
            </a:endParaRPr>
          </a:p>
        </p:txBody>
      </p:sp>
      <p:sp>
        <p:nvSpPr>
          <p:cNvPr id="360" name="Google Shape;360;p13"/>
          <p:cNvSpPr/>
          <p:nvPr/>
        </p:nvSpPr>
        <p:spPr>
          <a:xfrm>
            <a:off x="548640" y="96012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400"/>
              <a:buFont typeface="Calibri"/>
              <a:buNone/>
            </a:pPr>
            <a:r>
              <a:rPr b="0" i="0" lang="en-US" sz="1400" u="none" cap="none" strike="noStrike">
                <a:solidFill>
                  <a:srgbClr val="6B665A"/>
                </a:solidFill>
                <a:latin typeface="Calibri"/>
                <a:ea typeface="Calibri"/>
                <a:cs typeface="Calibri"/>
                <a:sym typeface="Calibri"/>
              </a:rPr>
              <a:t>test_hotel_booking.py ფაილში დაფარულია სამივე კლასის ძირითადი ლოგიკა.</a:t>
            </a:r>
            <a:endParaRPr b="0" i="0" sz="1400" u="none" cap="none" strike="noStrike">
              <a:solidFill>
                <a:schemeClr val="dk1"/>
              </a:solidFill>
              <a:latin typeface="Calibri"/>
              <a:ea typeface="Calibri"/>
              <a:cs typeface="Calibri"/>
              <a:sym typeface="Calibri"/>
            </a:endParaRPr>
          </a:p>
        </p:txBody>
      </p:sp>
      <p:sp>
        <p:nvSpPr>
          <p:cNvPr id="361" name="Google Shape;361;p13"/>
          <p:cNvSpPr/>
          <p:nvPr/>
        </p:nvSpPr>
        <p:spPr>
          <a:xfrm>
            <a:off x="548640" y="1737360"/>
            <a:ext cx="2011680" cy="2011680"/>
          </a:xfrm>
          <a:prstGeom prst="ellipse">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lask.png" id="362" name="Google Shape;362;p13"/>
          <p:cNvPicPr preferRelativeResize="0"/>
          <p:nvPr/>
        </p:nvPicPr>
        <p:blipFill rotWithShape="1">
          <a:blip r:embed="rId3">
            <a:alphaModFix/>
          </a:blip>
          <a:srcRect b="0" l="0" r="0" t="0"/>
          <a:stretch/>
        </p:blipFill>
        <p:spPr>
          <a:xfrm>
            <a:off x="1051560" y="2240280"/>
            <a:ext cx="1005840" cy="1005840"/>
          </a:xfrm>
          <a:prstGeom prst="rect">
            <a:avLst/>
          </a:prstGeom>
          <a:noFill/>
          <a:ln>
            <a:noFill/>
          </a:ln>
        </p:spPr>
      </p:pic>
      <p:sp>
        <p:nvSpPr>
          <p:cNvPr id="363" name="Google Shape;363;p13"/>
          <p:cNvSpPr/>
          <p:nvPr/>
        </p:nvSpPr>
        <p:spPr>
          <a:xfrm>
            <a:off x="2743200" y="1783080"/>
            <a:ext cx="18288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6000"/>
              <a:buFont typeface="Cambria"/>
              <a:buNone/>
            </a:pPr>
            <a:r>
              <a:rPr b="1" i="0" lang="en-US" sz="6000" u="none" cap="none" strike="noStrike">
                <a:solidFill>
                  <a:srgbClr val="A9803E"/>
                </a:solidFill>
                <a:latin typeface="Cambria"/>
                <a:ea typeface="Cambria"/>
                <a:cs typeface="Cambria"/>
                <a:sym typeface="Cambria"/>
              </a:rPr>
              <a:t>11</a:t>
            </a:r>
            <a:endParaRPr b="0" i="0" sz="6000" u="none" cap="none" strike="noStrike">
              <a:solidFill>
                <a:schemeClr val="dk1"/>
              </a:solidFill>
              <a:latin typeface="Calibri"/>
              <a:ea typeface="Calibri"/>
              <a:cs typeface="Calibri"/>
              <a:sym typeface="Calibri"/>
            </a:endParaRPr>
          </a:p>
        </p:txBody>
      </p:sp>
      <p:sp>
        <p:nvSpPr>
          <p:cNvPr id="364" name="Google Shape;364;p13"/>
          <p:cNvSpPr/>
          <p:nvPr/>
        </p:nvSpPr>
        <p:spPr>
          <a:xfrm>
            <a:off x="2743200" y="2697480"/>
            <a:ext cx="3108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300"/>
              <a:buFont typeface="Calibri"/>
              <a:buNone/>
            </a:pPr>
            <a:r>
              <a:rPr b="0" i="0" lang="en-US" sz="1300" u="none" cap="none" strike="noStrike">
                <a:solidFill>
                  <a:srgbClr val="6B665A"/>
                </a:solidFill>
                <a:latin typeface="Calibri"/>
                <a:ea typeface="Calibri"/>
                <a:cs typeface="Calibri"/>
                <a:sym typeface="Calibri"/>
              </a:rPr>
              <a:t>ტესტი — ყველა გადის</a:t>
            </a:r>
            <a:endParaRPr b="0" i="0" sz="1300" u="none" cap="none" strike="noStrike">
              <a:solidFill>
                <a:schemeClr val="dk1"/>
              </a:solidFill>
              <a:latin typeface="Calibri"/>
              <a:ea typeface="Calibri"/>
              <a:cs typeface="Calibri"/>
              <a:sym typeface="Calibri"/>
            </a:endParaRPr>
          </a:p>
        </p:txBody>
      </p:sp>
      <p:sp>
        <p:nvSpPr>
          <p:cNvPr id="365" name="Google Shape;365;p13"/>
          <p:cNvSpPr/>
          <p:nvPr/>
        </p:nvSpPr>
        <p:spPr>
          <a:xfrm>
            <a:off x="5852160" y="1737360"/>
            <a:ext cx="1554480" cy="4297680"/>
          </a:xfrm>
          <a:prstGeom prst="roundRect">
            <a:avLst>
              <a:gd fmla="val 3529" name="adj"/>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5852160" y="1737360"/>
            <a:ext cx="1554480" cy="457200"/>
          </a:xfrm>
          <a:prstGeom prst="rect">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3"/>
          <p:cNvSpPr/>
          <p:nvPr/>
        </p:nvSpPr>
        <p:spPr>
          <a:xfrm>
            <a:off x="5852160" y="1737360"/>
            <a:ext cx="15544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Room</a:t>
            </a:r>
            <a:endParaRPr b="0" i="0" sz="1400" u="none" cap="none" strike="noStrike">
              <a:solidFill>
                <a:schemeClr val="dk1"/>
              </a:solidFill>
              <a:latin typeface="Calibri"/>
              <a:ea typeface="Calibri"/>
              <a:cs typeface="Calibri"/>
              <a:sym typeface="Calibri"/>
            </a:endParaRPr>
          </a:p>
        </p:txBody>
      </p:sp>
      <p:sp>
        <p:nvSpPr>
          <p:cNvPr id="368" name="Google Shape;368;p13"/>
          <p:cNvSpPr/>
          <p:nvPr/>
        </p:nvSpPr>
        <p:spPr>
          <a:xfrm>
            <a:off x="6016752" y="2377440"/>
            <a:ext cx="1225296" cy="3383280"/>
          </a:xfrm>
          <a:prstGeom prst="rect">
            <a:avLst/>
          </a:prstGeom>
          <a:noFill/>
          <a:ln>
            <a:noFill/>
          </a:ln>
        </p:spPr>
        <p:txBody>
          <a:bodyPr anchorCtr="0" anchor="t" bIns="45700" lIns="91425" spcFirstLastPara="1" rIns="91425" wrap="square" tIns="45700">
            <a:noAutofit/>
          </a:bodyPr>
          <a:lstStyle/>
          <a:p>
            <a:pPr indent="-152400" lvl="0" marL="152400" marR="0" rtl="0" algn="l">
              <a:spcBef>
                <a:spcPts val="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book_room / release_room</a:t>
            </a:r>
            <a:endParaRPr b="0" i="0" sz="1050" u="none" cap="none" strike="noStrike">
              <a:solidFill>
                <a:schemeClr val="dk1"/>
              </a:solidFill>
              <a:latin typeface="Calibri"/>
              <a:ea typeface="Calibri"/>
              <a:cs typeface="Calibri"/>
              <a:sym typeface="Calibri"/>
            </a:endParaRPr>
          </a:p>
          <a:p>
            <a:pPr indent="-152400" lvl="0" marL="152400" marR="0" rtl="0" algn="l">
              <a:spcBef>
                <a:spcPts val="80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calculate_price (სეზონურობა)</a:t>
            </a:r>
            <a:endParaRPr b="0" i="0" sz="1050" u="none" cap="none" strike="noStrike">
              <a:solidFill>
                <a:schemeClr val="dk1"/>
              </a:solidFill>
              <a:latin typeface="Calibri"/>
              <a:ea typeface="Calibri"/>
              <a:cs typeface="Calibri"/>
              <a:sym typeface="Calibri"/>
            </a:endParaRPr>
          </a:p>
          <a:p>
            <a:pPr indent="-152400" lvl="0" marL="152400" marR="0" rtl="0" algn="l">
              <a:spcBef>
                <a:spcPts val="80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ვალიდაცია — 0 ღამე</a:t>
            </a:r>
            <a:endParaRPr b="0" i="0" sz="1050" u="none" cap="none" strike="noStrike">
              <a:solidFill>
                <a:schemeClr val="dk1"/>
              </a:solidFill>
              <a:latin typeface="Calibri"/>
              <a:ea typeface="Calibri"/>
              <a:cs typeface="Calibri"/>
              <a:sym typeface="Calibri"/>
            </a:endParaRPr>
          </a:p>
        </p:txBody>
      </p:sp>
      <p:sp>
        <p:nvSpPr>
          <p:cNvPr id="369" name="Google Shape;369;p13"/>
          <p:cNvSpPr/>
          <p:nvPr/>
        </p:nvSpPr>
        <p:spPr>
          <a:xfrm>
            <a:off x="7680960" y="1737360"/>
            <a:ext cx="1554480" cy="4297680"/>
          </a:xfrm>
          <a:prstGeom prst="roundRect">
            <a:avLst>
              <a:gd fmla="val 3529" name="adj"/>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3"/>
          <p:cNvSpPr/>
          <p:nvPr/>
        </p:nvSpPr>
        <p:spPr>
          <a:xfrm>
            <a:off x="7680960" y="1737360"/>
            <a:ext cx="1554480" cy="457200"/>
          </a:xfrm>
          <a:prstGeom prst="rect">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a:off x="7680960" y="1737360"/>
            <a:ext cx="15544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Customer</a:t>
            </a:r>
            <a:endParaRPr b="0" i="0" sz="1400" u="none" cap="none" strike="noStrike">
              <a:solidFill>
                <a:schemeClr val="dk1"/>
              </a:solidFill>
              <a:latin typeface="Calibri"/>
              <a:ea typeface="Calibri"/>
              <a:cs typeface="Calibri"/>
              <a:sym typeface="Calibri"/>
            </a:endParaRPr>
          </a:p>
        </p:txBody>
      </p:sp>
      <p:sp>
        <p:nvSpPr>
          <p:cNvPr id="372" name="Google Shape;372;p13"/>
          <p:cNvSpPr/>
          <p:nvPr/>
        </p:nvSpPr>
        <p:spPr>
          <a:xfrm>
            <a:off x="7845552" y="2377440"/>
            <a:ext cx="1225296" cy="3383280"/>
          </a:xfrm>
          <a:prstGeom prst="rect">
            <a:avLst/>
          </a:prstGeom>
          <a:noFill/>
          <a:ln>
            <a:noFill/>
          </a:ln>
        </p:spPr>
        <p:txBody>
          <a:bodyPr anchorCtr="0" anchor="t" bIns="45700" lIns="91425" spcFirstLastPara="1" rIns="91425" wrap="square" tIns="45700">
            <a:noAutofit/>
          </a:bodyPr>
          <a:lstStyle/>
          <a:p>
            <a:pPr indent="-152400" lvl="0" marL="152400" marR="0" rtl="0" algn="l">
              <a:spcBef>
                <a:spcPts val="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pay_for_booking — ბიუჯეტის შემცირება</a:t>
            </a:r>
            <a:endParaRPr b="0" i="0" sz="1050" u="none" cap="none" strike="noStrike">
              <a:solidFill>
                <a:schemeClr val="dk1"/>
              </a:solidFill>
              <a:latin typeface="Calibri"/>
              <a:ea typeface="Calibri"/>
              <a:cs typeface="Calibri"/>
              <a:sym typeface="Calibri"/>
            </a:endParaRPr>
          </a:p>
          <a:p>
            <a:pPr indent="-152400" lvl="0" marL="152400" marR="0" rtl="0" algn="l">
              <a:spcBef>
                <a:spcPts val="80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დაუშვებელი გადახდა</a:t>
            </a:r>
            <a:endParaRPr b="0" i="0" sz="1050" u="none" cap="none" strike="noStrike">
              <a:solidFill>
                <a:schemeClr val="dk1"/>
              </a:solidFill>
              <a:latin typeface="Calibri"/>
              <a:ea typeface="Calibri"/>
              <a:cs typeface="Calibri"/>
              <a:sym typeface="Calibri"/>
            </a:endParaRPr>
          </a:p>
          <a:p>
            <a:pPr indent="-152400" lvl="0" marL="152400" marR="0" rtl="0" algn="l">
              <a:spcBef>
                <a:spcPts val="80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add_room / remove_room</a:t>
            </a:r>
            <a:endParaRPr b="0" i="0" sz="1050" u="none" cap="none" strike="noStrike">
              <a:solidFill>
                <a:schemeClr val="dk1"/>
              </a:solidFill>
              <a:latin typeface="Calibri"/>
              <a:ea typeface="Calibri"/>
              <a:cs typeface="Calibri"/>
              <a:sym typeface="Calibri"/>
            </a:endParaRPr>
          </a:p>
        </p:txBody>
      </p:sp>
      <p:sp>
        <p:nvSpPr>
          <p:cNvPr id="373" name="Google Shape;373;p13"/>
          <p:cNvSpPr/>
          <p:nvPr/>
        </p:nvSpPr>
        <p:spPr>
          <a:xfrm>
            <a:off x="9509760" y="1737360"/>
            <a:ext cx="1554480" cy="4297680"/>
          </a:xfrm>
          <a:prstGeom prst="roundRect">
            <a:avLst>
              <a:gd fmla="val 3529" name="adj"/>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9509760" y="1737360"/>
            <a:ext cx="1554480" cy="457200"/>
          </a:xfrm>
          <a:prstGeom prst="rect">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9509760" y="1737360"/>
            <a:ext cx="15544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Hotel</a:t>
            </a:r>
            <a:endParaRPr b="0" i="0" sz="1400" u="none" cap="none" strike="noStrike">
              <a:solidFill>
                <a:schemeClr val="dk1"/>
              </a:solidFill>
              <a:latin typeface="Calibri"/>
              <a:ea typeface="Calibri"/>
              <a:cs typeface="Calibri"/>
              <a:sym typeface="Calibri"/>
            </a:endParaRPr>
          </a:p>
        </p:txBody>
      </p:sp>
      <p:sp>
        <p:nvSpPr>
          <p:cNvPr id="376" name="Google Shape;376;p13"/>
          <p:cNvSpPr/>
          <p:nvPr/>
        </p:nvSpPr>
        <p:spPr>
          <a:xfrm>
            <a:off x="9674352" y="2377440"/>
            <a:ext cx="1225296" cy="3383280"/>
          </a:xfrm>
          <a:prstGeom prst="rect">
            <a:avLst/>
          </a:prstGeom>
          <a:noFill/>
          <a:ln>
            <a:noFill/>
          </a:ln>
        </p:spPr>
        <p:txBody>
          <a:bodyPr anchorCtr="0" anchor="t" bIns="45700" lIns="91425" spcFirstLastPara="1" rIns="91425" wrap="square" tIns="45700">
            <a:noAutofit/>
          </a:bodyPr>
          <a:lstStyle/>
          <a:p>
            <a:pPr indent="-152400" lvl="0" marL="152400" marR="0" rtl="0" algn="l">
              <a:spcBef>
                <a:spcPts val="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show_available_rooms + ფილტრი</a:t>
            </a:r>
            <a:endParaRPr b="0" i="0" sz="1050" u="none" cap="none" strike="noStrike">
              <a:solidFill>
                <a:schemeClr val="dk1"/>
              </a:solidFill>
              <a:latin typeface="Calibri"/>
              <a:ea typeface="Calibri"/>
              <a:cs typeface="Calibri"/>
              <a:sym typeface="Calibri"/>
            </a:endParaRPr>
          </a:p>
          <a:p>
            <a:pPr indent="-152400" lvl="0" marL="152400" marR="0" rtl="0" algn="l">
              <a:spcBef>
                <a:spcPts val="80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book_room_for_customer — მხოლოდ თავისუფალზე</a:t>
            </a:r>
            <a:endParaRPr b="0" i="0" sz="1050" u="none" cap="none" strike="noStrike">
              <a:solidFill>
                <a:schemeClr val="dk1"/>
              </a:solidFill>
              <a:latin typeface="Calibri"/>
              <a:ea typeface="Calibri"/>
              <a:cs typeface="Calibri"/>
              <a:sym typeface="Calibri"/>
            </a:endParaRPr>
          </a:p>
          <a:p>
            <a:pPr indent="-152400" lvl="0" marL="152400" marR="0" rtl="0" algn="l">
              <a:spcBef>
                <a:spcPts val="800"/>
              </a:spcBef>
              <a:spcAft>
                <a:spcPts val="0"/>
              </a:spcAft>
              <a:buClr>
                <a:srgbClr val="2B2B28"/>
              </a:buClr>
              <a:buSzPts val="1050"/>
              <a:buFont typeface="Calibri"/>
              <a:buChar char="✓"/>
            </a:pPr>
            <a:r>
              <a:rPr b="0" i="0" lang="en-US" sz="1050" u="none" cap="none" strike="noStrike">
                <a:solidFill>
                  <a:srgbClr val="2B2B28"/>
                </a:solidFill>
                <a:latin typeface="Calibri"/>
                <a:ea typeface="Calibri"/>
                <a:cs typeface="Calibri"/>
                <a:sym typeface="Calibri"/>
              </a:rPr>
              <a:t>cancel_booking</a:t>
            </a:r>
            <a:endParaRPr b="0" i="0" sz="1050" u="none" cap="none" strike="noStrike">
              <a:solidFill>
                <a:schemeClr val="dk1"/>
              </a:solidFill>
              <a:latin typeface="Calibri"/>
              <a:ea typeface="Calibri"/>
              <a:cs typeface="Calibri"/>
              <a:sym typeface="Calibri"/>
            </a:endParaRPr>
          </a:p>
        </p:txBody>
      </p:sp>
      <p:sp>
        <p:nvSpPr>
          <p:cNvPr id="377" name="Google Shape;377;p13"/>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E"/>
        </a:solidFill>
      </p:bgPr>
    </p:bg>
    <p:spTree>
      <p:nvGrpSpPr>
        <p:cNvPr id="382" name="Shape 382"/>
        <p:cNvGrpSpPr/>
        <p:nvPr/>
      </p:nvGrpSpPr>
      <p:grpSpPr>
        <a:xfrm>
          <a:off x="0" y="0"/>
          <a:ext cx="0" cy="0"/>
          <a:chOff x="0" y="0"/>
          <a:chExt cx="0" cy="0"/>
        </a:xfrm>
      </p:grpSpPr>
      <p:sp>
        <p:nvSpPr>
          <p:cNvPr id="383" name="Google Shape;383;p14"/>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Front-End — სტრუქტურა</a:t>
            </a:r>
            <a:endParaRPr b="0" i="0" sz="2800" u="none" cap="none" strike="noStrike">
              <a:solidFill>
                <a:schemeClr val="dk1"/>
              </a:solidFill>
              <a:latin typeface="Calibri"/>
              <a:ea typeface="Calibri"/>
              <a:cs typeface="Calibri"/>
              <a:sym typeface="Calibri"/>
            </a:endParaRPr>
          </a:p>
        </p:txBody>
      </p:sp>
      <p:sp>
        <p:nvSpPr>
          <p:cNvPr id="384" name="Google Shape;384;p14"/>
          <p:cNvSpPr/>
          <p:nvPr/>
        </p:nvSpPr>
        <p:spPr>
          <a:xfrm>
            <a:off x="548640" y="96012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400"/>
              <a:buFont typeface="Calibri"/>
              <a:buNone/>
            </a:pPr>
            <a:r>
              <a:rPr b="0" i="0" lang="en-US" sz="1400" u="none" cap="none" strike="noStrike">
                <a:solidFill>
                  <a:srgbClr val="6B665A"/>
                </a:solidFill>
                <a:latin typeface="Calibri"/>
                <a:ea typeface="Calibri"/>
                <a:cs typeface="Calibri"/>
                <a:sym typeface="Calibri"/>
              </a:rPr>
              <a:t>სავალდებულო სემანტიკური თეგები და CSS სტრუქტურა, საერთო ვიზუალური ენით Back-End-თან.</a:t>
            </a:r>
            <a:endParaRPr b="0" i="0" sz="1400" u="none" cap="none" strike="noStrike">
              <a:solidFill>
                <a:schemeClr val="dk1"/>
              </a:solidFill>
              <a:latin typeface="Calibri"/>
              <a:ea typeface="Calibri"/>
              <a:cs typeface="Calibri"/>
              <a:sym typeface="Calibri"/>
            </a:endParaRPr>
          </a:p>
        </p:txBody>
      </p:sp>
      <p:sp>
        <p:nvSpPr>
          <p:cNvPr id="385" name="Google Shape;385;p14"/>
          <p:cNvSpPr/>
          <p:nvPr/>
        </p:nvSpPr>
        <p:spPr>
          <a:xfrm>
            <a:off x="548640" y="1645920"/>
            <a:ext cx="52120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სავალდებულო ტეგები</a:t>
            </a:r>
            <a:endParaRPr b="0" i="0" sz="1500" u="none" cap="none" strike="noStrike">
              <a:solidFill>
                <a:schemeClr val="dk1"/>
              </a:solidFill>
              <a:latin typeface="Calibri"/>
              <a:ea typeface="Calibri"/>
              <a:cs typeface="Calibri"/>
              <a:sym typeface="Calibri"/>
            </a:endParaRPr>
          </a:p>
        </p:txBody>
      </p:sp>
      <p:sp>
        <p:nvSpPr>
          <p:cNvPr id="386" name="Google Shape;386;p14"/>
          <p:cNvSpPr/>
          <p:nvPr/>
        </p:nvSpPr>
        <p:spPr>
          <a:xfrm>
            <a:off x="548640" y="2103120"/>
            <a:ext cx="5212080" cy="384048"/>
          </a:xfrm>
          <a:prstGeom prst="roundRect">
            <a:avLst>
              <a:gd fmla="val 11905" name="adj"/>
            </a:avLst>
          </a:prstGeom>
          <a:solidFill>
            <a:srgbClr val="FFFFFF"/>
          </a:solidFill>
          <a:ln cap="flat" cmpd="sng" w="9525">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731520" y="2103120"/>
            <a:ext cx="4846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150"/>
              <a:buFont typeface="Courier New"/>
              <a:buNone/>
            </a:pPr>
            <a:r>
              <a:rPr b="0" i="0" lang="en-US" sz="1150" u="none" cap="none" strike="noStrike">
                <a:solidFill>
                  <a:srgbClr val="1B2A41"/>
                </a:solidFill>
                <a:latin typeface="Courier New"/>
                <a:ea typeface="Courier New"/>
                <a:cs typeface="Courier New"/>
                <a:sym typeface="Courier New"/>
              </a:rPr>
              <a:t>&lt;header&gt;</a:t>
            </a:r>
            <a:endParaRPr b="0" i="0" sz="1150" u="none" cap="none" strike="noStrike">
              <a:solidFill>
                <a:schemeClr val="dk1"/>
              </a:solidFill>
              <a:latin typeface="Calibri"/>
              <a:ea typeface="Calibri"/>
              <a:cs typeface="Calibri"/>
              <a:sym typeface="Calibri"/>
            </a:endParaRPr>
          </a:p>
        </p:txBody>
      </p:sp>
      <p:sp>
        <p:nvSpPr>
          <p:cNvPr id="388" name="Google Shape;388;p14"/>
          <p:cNvSpPr/>
          <p:nvPr/>
        </p:nvSpPr>
        <p:spPr>
          <a:xfrm>
            <a:off x="548640" y="2542032"/>
            <a:ext cx="5212080" cy="384048"/>
          </a:xfrm>
          <a:prstGeom prst="roundRect">
            <a:avLst>
              <a:gd fmla="val 11905" name="adj"/>
            </a:avLst>
          </a:prstGeom>
          <a:solidFill>
            <a:srgbClr val="EFEADD"/>
          </a:solidFill>
          <a:ln cap="flat" cmpd="sng" w="9525">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731520" y="2542032"/>
            <a:ext cx="4846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150"/>
              <a:buFont typeface="Courier New"/>
              <a:buNone/>
            </a:pPr>
            <a:r>
              <a:rPr b="0" i="0" lang="en-US" sz="1150" u="none" cap="none" strike="noStrike">
                <a:solidFill>
                  <a:srgbClr val="1B2A41"/>
                </a:solidFill>
                <a:latin typeface="Courier New"/>
                <a:ea typeface="Courier New"/>
                <a:cs typeface="Courier New"/>
                <a:sym typeface="Courier New"/>
              </a:rPr>
              <a:t>&lt;nav&gt; + &lt;ul&gt; + &lt;li&gt;</a:t>
            </a:r>
            <a:endParaRPr b="0" i="0" sz="1150" u="none" cap="none" strike="noStrike">
              <a:solidFill>
                <a:schemeClr val="dk1"/>
              </a:solidFill>
              <a:latin typeface="Calibri"/>
              <a:ea typeface="Calibri"/>
              <a:cs typeface="Calibri"/>
              <a:sym typeface="Calibri"/>
            </a:endParaRPr>
          </a:p>
        </p:txBody>
      </p:sp>
      <p:sp>
        <p:nvSpPr>
          <p:cNvPr id="390" name="Google Shape;390;p14"/>
          <p:cNvSpPr/>
          <p:nvPr/>
        </p:nvSpPr>
        <p:spPr>
          <a:xfrm>
            <a:off x="548640" y="2980944"/>
            <a:ext cx="5212080" cy="384048"/>
          </a:xfrm>
          <a:prstGeom prst="roundRect">
            <a:avLst>
              <a:gd fmla="val 11905" name="adj"/>
            </a:avLst>
          </a:prstGeom>
          <a:solidFill>
            <a:srgbClr val="FFFFFF"/>
          </a:solidFill>
          <a:ln cap="flat" cmpd="sng" w="9525">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731520" y="2980944"/>
            <a:ext cx="4846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150"/>
              <a:buFont typeface="Courier New"/>
              <a:buNone/>
            </a:pPr>
            <a:r>
              <a:rPr b="0" i="0" lang="en-US" sz="1150" u="none" cap="none" strike="noStrike">
                <a:solidFill>
                  <a:srgbClr val="1B2A41"/>
                </a:solidFill>
                <a:latin typeface="Courier New"/>
                <a:ea typeface="Courier New"/>
                <a:cs typeface="Courier New"/>
                <a:sym typeface="Courier New"/>
              </a:rPr>
              <a:t>&lt;section&gt;</a:t>
            </a:r>
            <a:endParaRPr b="0" i="0" sz="1150" u="none" cap="none" strike="noStrike">
              <a:solidFill>
                <a:schemeClr val="dk1"/>
              </a:solidFill>
              <a:latin typeface="Calibri"/>
              <a:ea typeface="Calibri"/>
              <a:cs typeface="Calibri"/>
              <a:sym typeface="Calibri"/>
            </a:endParaRPr>
          </a:p>
        </p:txBody>
      </p:sp>
      <p:sp>
        <p:nvSpPr>
          <p:cNvPr id="392" name="Google Shape;392;p14"/>
          <p:cNvSpPr/>
          <p:nvPr/>
        </p:nvSpPr>
        <p:spPr>
          <a:xfrm>
            <a:off x="548640" y="3419856"/>
            <a:ext cx="5212080" cy="384048"/>
          </a:xfrm>
          <a:prstGeom prst="roundRect">
            <a:avLst>
              <a:gd fmla="val 11905" name="adj"/>
            </a:avLst>
          </a:prstGeom>
          <a:solidFill>
            <a:srgbClr val="EFEADD"/>
          </a:solidFill>
          <a:ln cap="flat" cmpd="sng" w="9525">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731520" y="3419856"/>
            <a:ext cx="4846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150"/>
              <a:buFont typeface="Courier New"/>
              <a:buNone/>
            </a:pPr>
            <a:r>
              <a:rPr b="0" i="0" lang="en-US" sz="1150" u="none" cap="none" strike="noStrike">
                <a:solidFill>
                  <a:srgbClr val="1B2A41"/>
                </a:solidFill>
                <a:latin typeface="Courier New"/>
                <a:ea typeface="Courier New"/>
                <a:cs typeface="Courier New"/>
                <a:sym typeface="Courier New"/>
              </a:rPr>
              <a:t>&lt;h1&gt;, &lt;h2&gt;</a:t>
            </a:r>
            <a:endParaRPr b="0" i="0" sz="1150" u="none" cap="none" strike="noStrike">
              <a:solidFill>
                <a:schemeClr val="dk1"/>
              </a:solidFill>
              <a:latin typeface="Calibri"/>
              <a:ea typeface="Calibri"/>
              <a:cs typeface="Calibri"/>
              <a:sym typeface="Calibri"/>
            </a:endParaRPr>
          </a:p>
        </p:txBody>
      </p:sp>
      <p:sp>
        <p:nvSpPr>
          <p:cNvPr id="394" name="Google Shape;394;p14"/>
          <p:cNvSpPr/>
          <p:nvPr/>
        </p:nvSpPr>
        <p:spPr>
          <a:xfrm>
            <a:off x="548640" y="3858768"/>
            <a:ext cx="5212080" cy="384048"/>
          </a:xfrm>
          <a:prstGeom prst="roundRect">
            <a:avLst>
              <a:gd fmla="val 11905" name="adj"/>
            </a:avLst>
          </a:prstGeom>
          <a:solidFill>
            <a:srgbClr val="FFFFFF"/>
          </a:solidFill>
          <a:ln cap="flat" cmpd="sng" w="9525">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p:nvPr/>
        </p:nvSpPr>
        <p:spPr>
          <a:xfrm>
            <a:off x="731520" y="3858768"/>
            <a:ext cx="4846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150"/>
              <a:buFont typeface="Courier New"/>
              <a:buNone/>
            </a:pPr>
            <a:r>
              <a:rPr b="0" i="0" lang="en-US" sz="1150" u="none" cap="none" strike="noStrike">
                <a:solidFill>
                  <a:srgbClr val="1B2A41"/>
                </a:solidFill>
                <a:latin typeface="Courier New"/>
                <a:ea typeface="Courier New"/>
                <a:cs typeface="Courier New"/>
                <a:sym typeface="Courier New"/>
              </a:rPr>
              <a:t>&lt;p&gt;</a:t>
            </a:r>
            <a:endParaRPr b="0" i="0" sz="1150" u="none" cap="none" strike="noStrike">
              <a:solidFill>
                <a:schemeClr val="dk1"/>
              </a:solidFill>
              <a:latin typeface="Calibri"/>
              <a:ea typeface="Calibri"/>
              <a:cs typeface="Calibri"/>
              <a:sym typeface="Calibri"/>
            </a:endParaRPr>
          </a:p>
        </p:txBody>
      </p:sp>
      <p:sp>
        <p:nvSpPr>
          <p:cNvPr id="396" name="Google Shape;396;p14"/>
          <p:cNvSpPr/>
          <p:nvPr/>
        </p:nvSpPr>
        <p:spPr>
          <a:xfrm>
            <a:off x="548640" y="4297680"/>
            <a:ext cx="5212080" cy="384048"/>
          </a:xfrm>
          <a:prstGeom prst="roundRect">
            <a:avLst>
              <a:gd fmla="val 11905" name="adj"/>
            </a:avLst>
          </a:prstGeom>
          <a:solidFill>
            <a:srgbClr val="EFEADD"/>
          </a:solidFill>
          <a:ln cap="flat" cmpd="sng" w="9525">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731520" y="4297680"/>
            <a:ext cx="4846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150"/>
              <a:buFont typeface="Courier New"/>
              <a:buNone/>
            </a:pPr>
            <a:r>
              <a:rPr b="0" i="0" lang="en-US" sz="1150" u="none" cap="none" strike="noStrike">
                <a:solidFill>
                  <a:srgbClr val="1B2A41"/>
                </a:solidFill>
                <a:latin typeface="Courier New"/>
                <a:ea typeface="Courier New"/>
                <a:cs typeface="Courier New"/>
                <a:sym typeface="Courier New"/>
              </a:rPr>
              <a:t>&lt;form&gt;, &lt;input&gt;, &lt;button&gt;</a:t>
            </a:r>
            <a:endParaRPr b="0" i="0" sz="1150" u="none" cap="none" strike="noStrike">
              <a:solidFill>
                <a:schemeClr val="dk1"/>
              </a:solidFill>
              <a:latin typeface="Calibri"/>
              <a:ea typeface="Calibri"/>
              <a:cs typeface="Calibri"/>
              <a:sym typeface="Calibri"/>
            </a:endParaRPr>
          </a:p>
        </p:txBody>
      </p:sp>
      <p:sp>
        <p:nvSpPr>
          <p:cNvPr id="398" name="Google Shape;398;p14"/>
          <p:cNvSpPr/>
          <p:nvPr/>
        </p:nvSpPr>
        <p:spPr>
          <a:xfrm>
            <a:off x="548640" y="4736592"/>
            <a:ext cx="5212080" cy="384048"/>
          </a:xfrm>
          <a:prstGeom prst="roundRect">
            <a:avLst>
              <a:gd fmla="val 11905" name="adj"/>
            </a:avLst>
          </a:prstGeom>
          <a:solidFill>
            <a:srgbClr val="FFFFFF"/>
          </a:solidFill>
          <a:ln cap="flat" cmpd="sng" w="9525">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4"/>
          <p:cNvSpPr/>
          <p:nvPr/>
        </p:nvSpPr>
        <p:spPr>
          <a:xfrm>
            <a:off x="731520" y="4736592"/>
            <a:ext cx="4846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150"/>
              <a:buFont typeface="Courier New"/>
              <a:buNone/>
            </a:pPr>
            <a:r>
              <a:rPr b="0" i="0" lang="en-US" sz="1150" u="none" cap="none" strike="noStrike">
                <a:solidFill>
                  <a:srgbClr val="1B2A41"/>
                </a:solidFill>
                <a:latin typeface="Courier New"/>
                <a:ea typeface="Courier New"/>
                <a:cs typeface="Courier New"/>
                <a:sym typeface="Courier New"/>
              </a:rPr>
              <a:t>id / class</a:t>
            </a:r>
            <a:endParaRPr b="0" i="0" sz="1150" u="none" cap="none" strike="noStrike">
              <a:solidFill>
                <a:schemeClr val="dk1"/>
              </a:solidFill>
              <a:latin typeface="Calibri"/>
              <a:ea typeface="Calibri"/>
              <a:cs typeface="Calibri"/>
              <a:sym typeface="Calibri"/>
            </a:endParaRPr>
          </a:p>
        </p:txBody>
      </p:sp>
      <p:sp>
        <p:nvSpPr>
          <p:cNvPr id="400" name="Google Shape;400;p14"/>
          <p:cNvSpPr/>
          <p:nvPr/>
        </p:nvSpPr>
        <p:spPr>
          <a:xfrm>
            <a:off x="548640" y="5175504"/>
            <a:ext cx="5212080" cy="384048"/>
          </a:xfrm>
          <a:prstGeom prst="roundRect">
            <a:avLst>
              <a:gd fmla="val 11905" name="adj"/>
            </a:avLst>
          </a:prstGeom>
          <a:solidFill>
            <a:srgbClr val="EFEADD"/>
          </a:solidFill>
          <a:ln cap="flat" cmpd="sng" w="9525">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4"/>
          <p:cNvSpPr/>
          <p:nvPr/>
        </p:nvSpPr>
        <p:spPr>
          <a:xfrm>
            <a:off x="731520" y="5175504"/>
            <a:ext cx="48463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150"/>
              <a:buFont typeface="Courier New"/>
              <a:buNone/>
            </a:pPr>
            <a:r>
              <a:rPr b="0" i="0" lang="en-US" sz="1150" u="none" cap="none" strike="noStrike">
                <a:solidFill>
                  <a:srgbClr val="1B2A41"/>
                </a:solidFill>
                <a:latin typeface="Courier New"/>
                <a:ea typeface="Courier New"/>
                <a:cs typeface="Courier New"/>
                <a:sym typeface="Courier New"/>
              </a:rPr>
              <a:t>&lt;footer&gt;</a:t>
            </a:r>
            <a:endParaRPr b="0" i="0" sz="1150" u="none" cap="none" strike="noStrike">
              <a:solidFill>
                <a:schemeClr val="dk1"/>
              </a:solidFill>
              <a:latin typeface="Calibri"/>
              <a:ea typeface="Calibri"/>
              <a:cs typeface="Calibri"/>
              <a:sym typeface="Calibri"/>
            </a:endParaRPr>
          </a:p>
        </p:txBody>
      </p:sp>
      <p:sp>
        <p:nvSpPr>
          <p:cNvPr id="402" name="Google Shape;402;p14"/>
          <p:cNvSpPr/>
          <p:nvPr/>
        </p:nvSpPr>
        <p:spPr>
          <a:xfrm>
            <a:off x="6035040" y="1645920"/>
            <a:ext cx="52120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500"/>
              <a:buFont typeface="Cambria"/>
              <a:buNone/>
            </a:pPr>
            <a:r>
              <a:rPr b="1" i="0" lang="en-US" sz="1500" u="none" cap="none" strike="noStrike">
                <a:solidFill>
                  <a:srgbClr val="1B2A41"/>
                </a:solidFill>
                <a:latin typeface="Cambria"/>
                <a:ea typeface="Cambria"/>
                <a:cs typeface="Cambria"/>
                <a:sym typeface="Cambria"/>
              </a:rPr>
              <a:t>CSS სტრუქტურა</a:t>
            </a:r>
            <a:endParaRPr b="0" i="0" sz="1500" u="none" cap="none" strike="noStrike">
              <a:solidFill>
                <a:schemeClr val="dk1"/>
              </a:solidFill>
              <a:latin typeface="Calibri"/>
              <a:ea typeface="Calibri"/>
              <a:cs typeface="Calibri"/>
              <a:sym typeface="Calibri"/>
            </a:endParaRPr>
          </a:p>
        </p:txBody>
      </p:sp>
      <p:sp>
        <p:nvSpPr>
          <p:cNvPr id="403" name="Google Shape;403;p14"/>
          <p:cNvSpPr/>
          <p:nvPr/>
        </p:nvSpPr>
        <p:spPr>
          <a:xfrm>
            <a:off x="6035040" y="2103120"/>
            <a:ext cx="5212080" cy="3840480"/>
          </a:xfrm>
          <a:prstGeom prst="roundRect">
            <a:avLst>
              <a:gd fmla="val 1190"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4"/>
          <p:cNvSpPr/>
          <p:nvPr/>
        </p:nvSpPr>
        <p:spPr>
          <a:xfrm>
            <a:off x="6217920" y="2286000"/>
            <a:ext cx="4846320" cy="347472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body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font-family, background-color,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margin, padding</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header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display: flex,</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justify-content: space-between</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nav ul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display: flex, gap: 20px,</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list-style: none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button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padding, background-color,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color, cursor: pointer</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footer {</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text-align: center, padding: 20px,</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  background-color: #f0f0f0</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00"/>
              <a:buFont typeface="Courier New"/>
              <a:buNone/>
            </a:pPr>
            <a:r>
              <a:rPr b="0" i="0" lang="en-US" sz="1100" u="none" cap="none" strike="noStrike">
                <a:solidFill>
                  <a:srgbClr val="EDE9DB"/>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p:txBody>
      </p:sp>
      <p:sp>
        <p:nvSpPr>
          <p:cNvPr id="405" name="Google Shape;405;p14"/>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15"/>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Front-End — UI დემო</a:t>
            </a:r>
            <a:endParaRPr b="0" i="0" sz="2800" u="none" cap="none" strike="noStrike">
              <a:solidFill>
                <a:schemeClr val="dk1"/>
              </a:solidFill>
              <a:latin typeface="Calibri"/>
              <a:ea typeface="Calibri"/>
              <a:cs typeface="Calibri"/>
              <a:sym typeface="Calibri"/>
            </a:endParaRPr>
          </a:p>
        </p:txBody>
      </p:sp>
      <p:sp>
        <p:nvSpPr>
          <p:cNvPr id="412" name="Google Shape;412;p15"/>
          <p:cNvSpPr/>
          <p:nvPr/>
        </p:nvSpPr>
        <p:spPr>
          <a:xfrm>
            <a:off x="548640" y="96012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665A"/>
              </a:buClr>
              <a:buSzPts val="1400"/>
              <a:buFont typeface="Calibri"/>
              <a:buNone/>
            </a:pPr>
            <a:r>
              <a:rPr b="0" i="0" lang="en-US" sz="1400" u="none" cap="none" strike="noStrike">
                <a:solidFill>
                  <a:srgbClr val="6B665A"/>
                </a:solidFill>
                <a:latin typeface="Calibri"/>
                <a:ea typeface="Calibri"/>
                <a:cs typeface="Calibri"/>
                <a:sym typeface="Calibri"/>
              </a:rPr>
              <a:t>ოთახის ბარათები, დაჯავშნის ფორმა და სტატუსის ინდიკატორი ცოცხლდება JavaScript-ით.</a:t>
            </a:r>
            <a:endParaRPr b="0" i="0" sz="1400" u="none" cap="none" strike="noStrike">
              <a:solidFill>
                <a:schemeClr val="dk1"/>
              </a:solidFill>
              <a:latin typeface="Calibri"/>
              <a:ea typeface="Calibri"/>
              <a:cs typeface="Calibri"/>
              <a:sym typeface="Calibri"/>
            </a:endParaRPr>
          </a:p>
        </p:txBody>
      </p:sp>
      <p:sp>
        <p:nvSpPr>
          <p:cNvPr id="413" name="Google Shape;413;p15"/>
          <p:cNvSpPr/>
          <p:nvPr/>
        </p:nvSpPr>
        <p:spPr>
          <a:xfrm>
            <a:off x="1737360" y="1600200"/>
            <a:ext cx="8686800" cy="4480560"/>
          </a:xfrm>
          <a:prstGeom prst="roundRect">
            <a:avLst>
              <a:gd fmla="val 1020" name="adj"/>
            </a:avLst>
          </a:prstGeom>
          <a:solidFill>
            <a:srgbClr val="F7F4EE"/>
          </a:solidFill>
          <a:ln cap="flat" cmpd="sng" w="19050">
            <a:solidFill>
              <a:srgbClr val="D8D2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a:off x="1737360" y="1600200"/>
            <a:ext cx="8686800" cy="365760"/>
          </a:xfrm>
          <a:prstGeom prst="rect">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a:off x="1901952" y="1719072"/>
            <a:ext cx="128016" cy="128016"/>
          </a:xfrm>
          <a:prstGeom prst="ellipse">
            <a:avLst/>
          </a:prstGeom>
          <a:solidFill>
            <a:srgbClr val="E362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p:nvPr/>
        </p:nvSpPr>
        <p:spPr>
          <a:xfrm>
            <a:off x="2157984" y="1719072"/>
            <a:ext cx="128016" cy="128016"/>
          </a:xfrm>
          <a:prstGeom prst="ellipse">
            <a:avLst/>
          </a:prstGeom>
          <a:solidFill>
            <a:srgbClr val="E5C0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p:nvPr/>
        </p:nvSpPr>
        <p:spPr>
          <a:xfrm>
            <a:off x="2414016" y="1719072"/>
            <a:ext cx="128016" cy="128016"/>
          </a:xfrm>
          <a:prstGeom prst="ellipse">
            <a:avLst/>
          </a:prstGeom>
          <a:solidFill>
            <a:srgbClr val="5FAE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a:off x="1737360" y="1965960"/>
            <a:ext cx="8686800" cy="502920"/>
          </a:xfrm>
          <a:prstGeom prst="rect">
            <a:avLst/>
          </a:prstGeom>
          <a:solidFill>
            <a:srgbClr val="2437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p:nvPr/>
        </p:nvSpPr>
        <p:spPr>
          <a:xfrm>
            <a:off x="1920240" y="1965960"/>
            <a:ext cx="27432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Tbilisi Grand Hotel</a:t>
            </a:r>
            <a:endParaRPr b="0" i="0" sz="1200" u="none" cap="none" strike="noStrike">
              <a:solidFill>
                <a:schemeClr val="dk1"/>
              </a:solidFill>
              <a:latin typeface="Calibri"/>
              <a:ea typeface="Calibri"/>
              <a:cs typeface="Calibri"/>
              <a:sym typeface="Calibri"/>
            </a:endParaRPr>
          </a:p>
        </p:txBody>
      </p:sp>
      <p:sp>
        <p:nvSpPr>
          <p:cNvPr id="420" name="Google Shape;420;p15"/>
          <p:cNvSpPr/>
          <p:nvPr/>
        </p:nvSpPr>
        <p:spPr>
          <a:xfrm>
            <a:off x="7498080" y="1965960"/>
            <a:ext cx="2743200" cy="5029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8D0BC"/>
              </a:buClr>
              <a:buSzPts val="950"/>
              <a:buFont typeface="Calibri"/>
              <a:buNone/>
            </a:pPr>
            <a:r>
              <a:rPr b="0" i="0" lang="en-US" sz="950" u="none" cap="none" strike="noStrike">
                <a:solidFill>
                  <a:srgbClr val="D8D0BC"/>
                </a:solidFill>
                <a:latin typeface="Calibri"/>
                <a:ea typeface="Calibri"/>
                <a:cs typeface="Calibri"/>
                <a:sym typeface="Calibri"/>
              </a:rPr>
              <a:t>ოთახები   დაჯავშნა   სტატუსი</a:t>
            </a:r>
            <a:endParaRPr b="0" i="0" sz="950" u="none" cap="none" strike="noStrike">
              <a:solidFill>
                <a:schemeClr val="dk1"/>
              </a:solidFill>
              <a:latin typeface="Calibri"/>
              <a:ea typeface="Calibri"/>
              <a:cs typeface="Calibri"/>
              <a:sym typeface="Calibri"/>
            </a:endParaRPr>
          </a:p>
        </p:txBody>
      </p:sp>
      <p:sp>
        <p:nvSpPr>
          <p:cNvPr id="421" name="Google Shape;421;p15"/>
          <p:cNvSpPr/>
          <p:nvPr/>
        </p:nvSpPr>
        <p:spPr>
          <a:xfrm>
            <a:off x="1965960" y="2651760"/>
            <a:ext cx="1874520" cy="1417320"/>
          </a:xfrm>
          <a:prstGeom prst="roundRect">
            <a:avLst>
              <a:gd fmla="val 3226"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5"/>
          <p:cNvSpPr/>
          <p:nvPr/>
        </p:nvSpPr>
        <p:spPr>
          <a:xfrm>
            <a:off x="2075688" y="2761488"/>
            <a:ext cx="1645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000"/>
              <a:buFont typeface="Calibri"/>
              <a:buNone/>
            </a:pPr>
            <a:r>
              <a:rPr b="1" i="0" lang="en-US" sz="1000" u="none" cap="none" strike="noStrike">
                <a:solidFill>
                  <a:srgbClr val="1B2A41"/>
                </a:solidFill>
                <a:latin typeface="Calibri"/>
                <a:ea typeface="Calibri"/>
                <a:cs typeface="Calibri"/>
                <a:sym typeface="Calibri"/>
              </a:rPr>
              <a:t>ოთახი #101</a:t>
            </a:r>
            <a:endParaRPr b="0" i="0" sz="1000" u="none" cap="none" strike="noStrike">
              <a:solidFill>
                <a:schemeClr val="dk1"/>
              </a:solidFill>
              <a:latin typeface="Calibri"/>
              <a:ea typeface="Calibri"/>
              <a:cs typeface="Calibri"/>
              <a:sym typeface="Calibri"/>
            </a:endParaRPr>
          </a:p>
        </p:txBody>
      </p:sp>
      <p:sp>
        <p:nvSpPr>
          <p:cNvPr id="423" name="Google Shape;423;p15"/>
          <p:cNvSpPr/>
          <p:nvPr/>
        </p:nvSpPr>
        <p:spPr>
          <a:xfrm>
            <a:off x="2075688" y="3090672"/>
            <a:ext cx="1005840" cy="237744"/>
          </a:xfrm>
          <a:prstGeom prst="roundRect">
            <a:avLst>
              <a:gd fmla="val 50000" name="adj"/>
            </a:avLst>
          </a:prstGeom>
          <a:solidFill>
            <a:srgbClr val="E4F2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a:off x="2075688" y="3090672"/>
            <a:ext cx="100584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7D5A"/>
              </a:buClr>
              <a:buSzPts val="750"/>
              <a:buFont typeface="Calibri"/>
              <a:buNone/>
            </a:pPr>
            <a:r>
              <a:rPr b="0" i="0" lang="en-US" sz="750" u="none" cap="none" strike="noStrike">
                <a:solidFill>
                  <a:srgbClr val="2F7D5A"/>
                </a:solidFill>
                <a:latin typeface="Calibri"/>
                <a:ea typeface="Calibri"/>
                <a:cs typeface="Calibri"/>
                <a:sym typeface="Calibri"/>
              </a:rPr>
              <a:t>თავისუფალია</a:t>
            </a:r>
            <a:endParaRPr b="0" i="0" sz="750" u="none" cap="none" strike="noStrike">
              <a:solidFill>
                <a:schemeClr val="dk1"/>
              </a:solidFill>
              <a:latin typeface="Calibri"/>
              <a:ea typeface="Calibri"/>
              <a:cs typeface="Calibri"/>
              <a:sym typeface="Calibri"/>
            </a:endParaRPr>
          </a:p>
        </p:txBody>
      </p:sp>
      <p:sp>
        <p:nvSpPr>
          <p:cNvPr id="425" name="Google Shape;425;p15"/>
          <p:cNvSpPr/>
          <p:nvPr/>
        </p:nvSpPr>
        <p:spPr>
          <a:xfrm>
            <a:off x="2075688" y="3474720"/>
            <a:ext cx="1645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80 ₾ / ღამე</a:t>
            </a:r>
            <a:endParaRPr b="0" i="0" sz="1050" u="none" cap="none" strike="noStrike">
              <a:solidFill>
                <a:schemeClr val="dk1"/>
              </a:solidFill>
              <a:latin typeface="Calibri"/>
              <a:ea typeface="Calibri"/>
              <a:cs typeface="Calibri"/>
              <a:sym typeface="Calibri"/>
            </a:endParaRPr>
          </a:p>
        </p:txBody>
      </p:sp>
      <p:sp>
        <p:nvSpPr>
          <p:cNvPr id="426" name="Google Shape;426;p15"/>
          <p:cNvSpPr/>
          <p:nvPr/>
        </p:nvSpPr>
        <p:spPr>
          <a:xfrm>
            <a:off x="2075688" y="3767328"/>
            <a:ext cx="1645920" cy="237744"/>
          </a:xfrm>
          <a:prstGeom prst="roundRect">
            <a:avLst>
              <a:gd fmla="val 15385" name="adj"/>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a:off x="2075688" y="3767328"/>
            <a:ext cx="1645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დაჯავშნა</a:t>
            </a:r>
            <a:endParaRPr b="0" i="0" sz="800" u="none" cap="none" strike="noStrike">
              <a:solidFill>
                <a:schemeClr val="dk1"/>
              </a:solidFill>
              <a:latin typeface="Calibri"/>
              <a:ea typeface="Calibri"/>
              <a:cs typeface="Calibri"/>
              <a:sym typeface="Calibri"/>
            </a:endParaRPr>
          </a:p>
        </p:txBody>
      </p:sp>
      <p:sp>
        <p:nvSpPr>
          <p:cNvPr id="428" name="Google Shape;428;p15"/>
          <p:cNvSpPr/>
          <p:nvPr/>
        </p:nvSpPr>
        <p:spPr>
          <a:xfrm>
            <a:off x="4050792" y="2651760"/>
            <a:ext cx="1874520" cy="1417320"/>
          </a:xfrm>
          <a:prstGeom prst="roundRect">
            <a:avLst>
              <a:gd fmla="val 3226"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4160520" y="2761488"/>
            <a:ext cx="1645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000"/>
              <a:buFont typeface="Calibri"/>
              <a:buNone/>
            </a:pPr>
            <a:r>
              <a:rPr b="1" i="0" lang="en-US" sz="1000" u="none" cap="none" strike="noStrike">
                <a:solidFill>
                  <a:srgbClr val="1B2A41"/>
                </a:solidFill>
                <a:latin typeface="Calibri"/>
                <a:ea typeface="Calibri"/>
                <a:cs typeface="Calibri"/>
                <a:sym typeface="Calibri"/>
              </a:rPr>
              <a:t>ოთახი #102</a:t>
            </a:r>
            <a:endParaRPr b="0" i="0" sz="1000" u="none" cap="none" strike="noStrike">
              <a:solidFill>
                <a:schemeClr val="dk1"/>
              </a:solidFill>
              <a:latin typeface="Calibri"/>
              <a:ea typeface="Calibri"/>
              <a:cs typeface="Calibri"/>
              <a:sym typeface="Calibri"/>
            </a:endParaRPr>
          </a:p>
        </p:txBody>
      </p:sp>
      <p:sp>
        <p:nvSpPr>
          <p:cNvPr id="430" name="Google Shape;430;p15"/>
          <p:cNvSpPr/>
          <p:nvPr/>
        </p:nvSpPr>
        <p:spPr>
          <a:xfrm>
            <a:off x="4160520" y="3090672"/>
            <a:ext cx="1005840" cy="237744"/>
          </a:xfrm>
          <a:prstGeom prst="roundRect">
            <a:avLst>
              <a:gd fmla="val 50000" name="adj"/>
            </a:avLst>
          </a:prstGeom>
          <a:solidFill>
            <a:srgbClr val="E4F2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4160520" y="3090672"/>
            <a:ext cx="100584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7D5A"/>
              </a:buClr>
              <a:buSzPts val="750"/>
              <a:buFont typeface="Calibri"/>
              <a:buNone/>
            </a:pPr>
            <a:r>
              <a:rPr b="0" i="0" lang="en-US" sz="750" u="none" cap="none" strike="noStrike">
                <a:solidFill>
                  <a:srgbClr val="2F7D5A"/>
                </a:solidFill>
                <a:latin typeface="Calibri"/>
                <a:ea typeface="Calibri"/>
                <a:cs typeface="Calibri"/>
                <a:sym typeface="Calibri"/>
              </a:rPr>
              <a:t>თავისუფალია</a:t>
            </a:r>
            <a:endParaRPr b="0" i="0" sz="750" u="none" cap="none" strike="noStrike">
              <a:solidFill>
                <a:schemeClr val="dk1"/>
              </a:solidFill>
              <a:latin typeface="Calibri"/>
              <a:ea typeface="Calibri"/>
              <a:cs typeface="Calibri"/>
              <a:sym typeface="Calibri"/>
            </a:endParaRPr>
          </a:p>
        </p:txBody>
      </p:sp>
      <p:sp>
        <p:nvSpPr>
          <p:cNvPr id="432" name="Google Shape;432;p15"/>
          <p:cNvSpPr/>
          <p:nvPr/>
        </p:nvSpPr>
        <p:spPr>
          <a:xfrm>
            <a:off x="4160520" y="3474720"/>
            <a:ext cx="1645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105 ₾ / ღამე</a:t>
            </a:r>
            <a:endParaRPr b="0" i="0" sz="1050" u="none" cap="none" strike="noStrike">
              <a:solidFill>
                <a:schemeClr val="dk1"/>
              </a:solidFill>
              <a:latin typeface="Calibri"/>
              <a:ea typeface="Calibri"/>
              <a:cs typeface="Calibri"/>
              <a:sym typeface="Calibri"/>
            </a:endParaRPr>
          </a:p>
        </p:txBody>
      </p:sp>
      <p:sp>
        <p:nvSpPr>
          <p:cNvPr id="433" name="Google Shape;433;p15"/>
          <p:cNvSpPr/>
          <p:nvPr/>
        </p:nvSpPr>
        <p:spPr>
          <a:xfrm>
            <a:off x="4160520" y="3767328"/>
            <a:ext cx="1645920" cy="237744"/>
          </a:xfrm>
          <a:prstGeom prst="roundRect">
            <a:avLst>
              <a:gd fmla="val 15385" name="adj"/>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4160520" y="3767328"/>
            <a:ext cx="1645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დაჯავშნა</a:t>
            </a:r>
            <a:endParaRPr b="0" i="0" sz="800" u="none" cap="none" strike="noStrike">
              <a:solidFill>
                <a:schemeClr val="dk1"/>
              </a:solidFill>
              <a:latin typeface="Calibri"/>
              <a:ea typeface="Calibri"/>
              <a:cs typeface="Calibri"/>
              <a:sym typeface="Calibri"/>
            </a:endParaRPr>
          </a:p>
        </p:txBody>
      </p:sp>
      <p:sp>
        <p:nvSpPr>
          <p:cNvPr id="435" name="Google Shape;435;p15"/>
          <p:cNvSpPr/>
          <p:nvPr/>
        </p:nvSpPr>
        <p:spPr>
          <a:xfrm>
            <a:off x="6135624" y="2651760"/>
            <a:ext cx="1874520" cy="1417320"/>
          </a:xfrm>
          <a:prstGeom prst="roundRect">
            <a:avLst>
              <a:gd fmla="val 3226"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5"/>
          <p:cNvSpPr/>
          <p:nvPr/>
        </p:nvSpPr>
        <p:spPr>
          <a:xfrm>
            <a:off x="6245352" y="2761488"/>
            <a:ext cx="1645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000"/>
              <a:buFont typeface="Calibri"/>
              <a:buNone/>
            </a:pPr>
            <a:r>
              <a:rPr b="1" i="0" lang="en-US" sz="1000" u="none" cap="none" strike="noStrike">
                <a:solidFill>
                  <a:srgbClr val="1B2A41"/>
                </a:solidFill>
                <a:latin typeface="Calibri"/>
                <a:ea typeface="Calibri"/>
                <a:cs typeface="Calibri"/>
                <a:sym typeface="Calibri"/>
              </a:rPr>
              <a:t>ოთახი #103</a:t>
            </a:r>
            <a:endParaRPr b="0" i="0" sz="1000" u="none" cap="none" strike="noStrike">
              <a:solidFill>
                <a:schemeClr val="dk1"/>
              </a:solidFill>
              <a:latin typeface="Calibri"/>
              <a:ea typeface="Calibri"/>
              <a:cs typeface="Calibri"/>
              <a:sym typeface="Calibri"/>
            </a:endParaRPr>
          </a:p>
        </p:txBody>
      </p:sp>
      <p:sp>
        <p:nvSpPr>
          <p:cNvPr id="437" name="Google Shape;437;p15"/>
          <p:cNvSpPr/>
          <p:nvPr/>
        </p:nvSpPr>
        <p:spPr>
          <a:xfrm>
            <a:off x="6245352" y="3090672"/>
            <a:ext cx="1005840" cy="237744"/>
          </a:xfrm>
          <a:prstGeom prst="roundRect">
            <a:avLst>
              <a:gd fmla="val 50000" name="adj"/>
            </a:avLst>
          </a:prstGeom>
          <a:solidFill>
            <a:srgbClr val="E4F2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6245352" y="3090672"/>
            <a:ext cx="100584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7D5A"/>
              </a:buClr>
              <a:buSzPts val="750"/>
              <a:buFont typeface="Calibri"/>
              <a:buNone/>
            </a:pPr>
            <a:r>
              <a:rPr b="0" i="0" lang="en-US" sz="750" u="none" cap="none" strike="noStrike">
                <a:solidFill>
                  <a:srgbClr val="2F7D5A"/>
                </a:solidFill>
                <a:latin typeface="Calibri"/>
                <a:ea typeface="Calibri"/>
                <a:cs typeface="Calibri"/>
                <a:sym typeface="Calibri"/>
              </a:rPr>
              <a:t>თავისუფალია</a:t>
            </a:r>
            <a:endParaRPr b="0" i="0" sz="750" u="none" cap="none" strike="noStrike">
              <a:solidFill>
                <a:schemeClr val="dk1"/>
              </a:solidFill>
              <a:latin typeface="Calibri"/>
              <a:ea typeface="Calibri"/>
              <a:cs typeface="Calibri"/>
              <a:sym typeface="Calibri"/>
            </a:endParaRPr>
          </a:p>
        </p:txBody>
      </p:sp>
      <p:sp>
        <p:nvSpPr>
          <p:cNvPr id="439" name="Google Shape;439;p15"/>
          <p:cNvSpPr/>
          <p:nvPr/>
        </p:nvSpPr>
        <p:spPr>
          <a:xfrm>
            <a:off x="6245352" y="3474720"/>
            <a:ext cx="1645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130 ₾ / ღამე</a:t>
            </a:r>
            <a:endParaRPr b="0" i="0" sz="1050" u="none" cap="none" strike="noStrike">
              <a:solidFill>
                <a:schemeClr val="dk1"/>
              </a:solidFill>
              <a:latin typeface="Calibri"/>
              <a:ea typeface="Calibri"/>
              <a:cs typeface="Calibri"/>
              <a:sym typeface="Calibri"/>
            </a:endParaRPr>
          </a:p>
        </p:txBody>
      </p:sp>
      <p:sp>
        <p:nvSpPr>
          <p:cNvPr id="440" name="Google Shape;440;p15"/>
          <p:cNvSpPr/>
          <p:nvPr/>
        </p:nvSpPr>
        <p:spPr>
          <a:xfrm>
            <a:off x="6245352" y="3767328"/>
            <a:ext cx="1645920" cy="237744"/>
          </a:xfrm>
          <a:prstGeom prst="roundRect">
            <a:avLst>
              <a:gd fmla="val 15385" name="adj"/>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6245352" y="3767328"/>
            <a:ext cx="1645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დაჯავშნა</a:t>
            </a:r>
            <a:endParaRPr b="0" i="0" sz="800" u="none" cap="none" strike="noStrike">
              <a:solidFill>
                <a:schemeClr val="dk1"/>
              </a:solidFill>
              <a:latin typeface="Calibri"/>
              <a:ea typeface="Calibri"/>
              <a:cs typeface="Calibri"/>
              <a:sym typeface="Calibri"/>
            </a:endParaRPr>
          </a:p>
        </p:txBody>
      </p:sp>
      <p:sp>
        <p:nvSpPr>
          <p:cNvPr id="442" name="Google Shape;442;p15"/>
          <p:cNvSpPr/>
          <p:nvPr/>
        </p:nvSpPr>
        <p:spPr>
          <a:xfrm>
            <a:off x="8220456" y="2651760"/>
            <a:ext cx="1874520" cy="1417320"/>
          </a:xfrm>
          <a:prstGeom prst="roundRect">
            <a:avLst>
              <a:gd fmla="val 3226"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8330184" y="2761488"/>
            <a:ext cx="1645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000"/>
              <a:buFont typeface="Calibri"/>
              <a:buNone/>
            </a:pPr>
            <a:r>
              <a:rPr b="1" i="0" lang="en-US" sz="1000" u="none" cap="none" strike="noStrike">
                <a:solidFill>
                  <a:srgbClr val="1B2A41"/>
                </a:solidFill>
                <a:latin typeface="Calibri"/>
                <a:ea typeface="Calibri"/>
                <a:cs typeface="Calibri"/>
                <a:sym typeface="Calibri"/>
              </a:rPr>
              <a:t>ოთახი #104</a:t>
            </a:r>
            <a:endParaRPr b="0" i="0" sz="1000" u="none" cap="none" strike="noStrike">
              <a:solidFill>
                <a:schemeClr val="dk1"/>
              </a:solidFill>
              <a:latin typeface="Calibri"/>
              <a:ea typeface="Calibri"/>
              <a:cs typeface="Calibri"/>
              <a:sym typeface="Calibri"/>
            </a:endParaRPr>
          </a:p>
        </p:txBody>
      </p:sp>
      <p:sp>
        <p:nvSpPr>
          <p:cNvPr id="444" name="Google Shape;444;p15"/>
          <p:cNvSpPr/>
          <p:nvPr/>
        </p:nvSpPr>
        <p:spPr>
          <a:xfrm>
            <a:off x="8330184" y="3090672"/>
            <a:ext cx="1005840" cy="237744"/>
          </a:xfrm>
          <a:prstGeom prst="roundRect">
            <a:avLst>
              <a:gd fmla="val 50000" name="adj"/>
            </a:avLst>
          </a:prstGeom>
          <a:solidFill>
            <a:srgbClr val="E4F2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8330184" y="3090672"/>
            <a:ext cx="100584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7D5A"/>
              </a:buClr>
              <a:buSzPts val="750"/>
              <a:buFont typeface="Calibri"/>
              <a:buNone/>
            </a:pPr>
            <a:r>
              <a:rPr b="0" i="0" lang="en-US" sz="750" u="none" cap="none" strike="noStrike">
                <a:solidFill>
                  <a:srgbClr val="2F7D5A"/>
                </a:solidFill>
                <a:latin typeface="Calibri"/>
                <a:ea typeface="Calibri"/>
                <a:cs typeface="Calibri"/>
                <a:sym typeface="Calibri"/>
              </a:rPr>
              <a:t>თავისუფალია</a:t>
            </a:r>
            <a:endParaRPr b="0" i="0" sz="750" u="none" cap="none" strike="noStrike">
              <a:solidFill>
                <a:schemeClr val="dk1"/>
              </a:solidFill>
              <a:latin typeface="Calibri"/>
              <a:ea typeface="Calibri"/>
              <a:cs typeface="Calibri"/>
              <a:sym typeface="Calibri"/>
            </a:endParaRPr>
          </a:p>
        </p:txBody>
      </p:sp>
      <p:sp>
        <p:nvSpPr>
          <p:cNvPr id="446" name="Google Shape;446;p15"/>
          <p:cNvSpPr/>
          <p:nvPr/>
        </p:nvSpPr>
        <p:spPr>
          <a:xfrm>
            <a:off x="8330184" y="3474720"/>
            <a:ext cx="1645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050"/>
              <a:buFont typeface="Calibri"/>
              <a:buNone/>
            </a:pPr>
            <a:r>
              <a:rPr b="1" i="0" lang="en-US" sz="1050" u="none" cap="none" strike="noStrike">
                <a:solidFill>
                  <a:srgbClr val="A9803E"/>
                </a:solidFill>
                <a:latin typeface="Calibri"/>
                <a:ea typeface="Calibri"/>
                <a:cs typeface="Calibri"/>
                <a:sym typeface="Calibri"/>
              </a:rPr>
              <a:t>155 ₾ / ღამე</a:t>
            </a:r>
            <a:endParaRPr b="0" i="0" sz="1050" u="none" cap="none" strike="noStrike">
              <a:solidFill>
                <a:schemeClr val="dk1"/>
              </a:solidFill>
              <a:latin typeface="Calibri"/>
              <a:ea typeface="Calibri"/>
              <a:cs typeface="Calibri"/>
              <a:sym typeface="Calibri"/>
            </a:endParaRPr>
          </a:p>
        </p:txBody>
      </p:sp>
      <p:sp>
        <p:nvSpPr>
          <p:cNvPr id="447" name="Google Shape;447;p15"/>
          <p:cNvSpPr/>
          <p:nvPr/>
        </p:nvSpPr>
        <p:spPr>
          <a:xfrm>
            <a:off x="8330184" y="3767328"/>
            <a:ext cx="1645920" cy="237744"/>
          </a:xfrm>
          <a:prstGeom prst="roundRect">
            <a:avLst>
              <a:gd fmla="val 15385" name="adj"/>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8330184" y="3767328"/>
            <a:ext cx="16459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დაჯავშნა</a:t>
            </a:r>
            <a:endParaRPr b="0" i="0" sz="800" u="none" cap="none" strike="noStrike">
              <a:solidFill>
                <a:schemeClr val="dk1"/>
              </a:solidFill>
              <a:latin typeface="Calibri"/>
              <a:ea typeface="Calibri"/>
              <a:cs typeface="Calibri"/>
              <a:sym typeface="Calibri"/>
            </a:endParaRPr>
          </a:p>
        </p:txBody>
      </p:sp>
      <p:sp>
        <p:nvSpPr>
          <p:cNvPr id="449" name="Google Shape;449;p15"/>
          <p:cNvSpPr/>
          <p:nvPr/>
        </p:nvSpPr>
        <p:spPr>
          <a:xfrm>
            <a:off x="1965960" y="4343400"/>
            <a:ext cx="8229600" cy="1508760"/>
          </a:xfrm>
          <a:prstGeom prst="roundRect">
            <a:avLst>
              <a:gd fmla="val 3030"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5"/>
          <p:cNvSpPr/>
          <p:nvPr/>
        </p:nvSpPr>
        <p:spPr>
          <a:xfrm>
            <a:off x="2103120" y="4453128"/>
            <a:ext cx="2743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000"/>
              <a:buFont typeface="Calibri"/>
              <a:buNone/>
            </a:pPr>
            <a:r>
              <a:rPr b="1" i="0" lang="en-US" sz="1000" u="none" cap="none" strike="noStrike">
                <a:solidFill>
                  <a:srgbClr val="1B2A41"/>
                </a:solidFill>
                <a:latin typeface="Calibri"/>
                <a:ea typeface="Calibri"/>
                <a:cs typeface="Calibri"/>
                <a:sym typeface="Calibri"/>
              </a:rPr>
              <a:t>დაჯავშნის ფორმა</a:t>
            </a:r>
            <a:endParaRPr b="0" i="0" sz="1000" u="none" cap="none" strike="noStrike">
              <a:solidFill>
                <a:schemeClr val="dk1"/>
              </a:solidFill>
              <a:latin typeface="Calibri"/>
              <a:ea typeface="Calibri"/>
              <a:cs typeface="Calibri"/>
              <a:sym typeface="Calibri"/>
            </a:endParaRPr>
          </a:p>
        </p:txBody>
      </p:sp>
      <p:sp>
        <p:nvSpPr>
          <p:cNvPr id="451" name="Google Shape;451;p15"/>
          <p:cNvSpPr/>
          <p:nvPr/>
        </p:nvSpPr>
        <p:spPr>
          <a:xfrm>
            <a:off x="2103120" y="4846320"/>
            <a:ext cx="2468880" cy="365760"/>
          </a:xfrm>
          <a:prstGeom prst="roundRect">
            <a:avLst>
              <a:gd fmla="val 10000" name="adj"/>
            </a:avLst>
          </a:prstGeom>
          <a:solidFill>
            <a:srgbClr val="F7F4EE"/>
          </a:solidFill>
          <a:ln cap="flat" cmpd="sng" w="12700">
            <a:solidFill>
              <a:srgbClr val="CFC7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p:nvPr/>
        </p:nvSpPr>
        <p:spPr>
          <a:xfrm>
            <a:off x="4800600" y="4846320"/>
            <a:ext cx="2468880" cy="365760"/>
          </a:xfrm>
          <a:prstGeom prst="roundRect">
            <a:avLst>
              <a:gd fmla="val 10000" name="adj"/>
            </a:avLst>
          </a:prstGeom>
          <a:solidFill>
            <a:srgbClr val="F7F4EE"/>
          </a:solidFill>
          <a:ln cap="flat" cmpd="sng" w="12700">
            <a:solidFill>
              <a:srgbClr val="CFC7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5"/>
          <p:cNvSpPr/>
          <p:nvPr/>
        </p:nvSpPr>
        <p:spPr>
          <a:xfrm>
            <a:off x="7498080" y="4846320"/>
            <a:ext cx="2468880" cy="365760"/>
          </a:xfrm>
          <a:prstGeom prst="roundRect">
            <a:avLst>
              <a:gd fmla="val 10000" name="adj"/>
            </a:avLst>
          </a:prstGeom>
          <a:solidFill>
            <a:srgbClr val="F7F4EE"/>
          </a:solidFill>
          <a:ln cap="flat" cmpd="sng" w="12700">
            <a:solidFill>
              <a:srgbClr val="CFC7A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5"/>
          <p:cNvSpPr/>
          <p:nvPr/>
        </p:nvSpPr>
        <p:spPr>
          <a:xfrm>
            <a:off x="2103120" y="5349240"/>
            <a:ext cx="1828800" cy="320040"/>
          </a:xfrm>
          <a:prstGeom prst="roundRect">
            <a:avLst>
              <a:gd fmla="val 11429" name="adj"/>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5"/>
          <p:cNvSpPr/>
          <p:nvPr/>
        </p:nvSpPr>
        <p:spPr>
          <a:xfrm>
            <a:off x="2103120" y="5349240"/>
            <a:ext cx="18288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დადასტურება</a:t>
            </a:r>
            <a:endParaRPr b="0" i="0" sz="900" u="none" cap="none" strike="noStrike">
              <a:solidFill>
                <a:schemeClr val="dk1"/>
              </a:solidFill>
              <a:latin typeface="Calibri"/>
              <a:ea typeface="Calibri"/>
              <a:cs typeface="Calibri"/>
              <a:sym typeface="Calibri"/>
            </a:endParaRPr>
          </a:p>
        </p:txBody>
      </p:sp>
      <p:sp>
        <p:nvSpPr>
          <p:cNvPr id="456" name="Google Shape;456;p15"/>
          <p:cNvSpPr/>
          <p:nvPr/>
        </p:nvSpPr>
        <p:spPr>
          <a:xfrm>
            <a:off x="4114800" y="5349240"/>
            <a:ext cx="3291840" cy="320040"/>
          </a:xfrm>
          <a:prstGeom prst="roundRect">
            <a:avLst>
              <a:gd fmla="val 11429" name="adj"/>
            </a:avLst>
          </a:prstGeom>
          <a:solidFill>
            <a:srgbClr val="E4F2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5"/>
          <p:cNvSpPr/>
          <p:nvPr/>
        </p:nvSpPr>
        <p:spPr>
          <a:xfrm>
            <a:off x="4114800" y="5349240"/>
            <a:ext cx="329184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F7D5A"/>
              </a:buClr>
              <a:buSzPts val="850"/>
              <a:buFont typeface="Calibri"/>
              <a:buNone/>
            </a:pPr>
            <a:r>
              <a:rPr b="0" i="0" lang="en-US" sz="850" u="none" cap="none" strike="noStrike">
                <a:solidFill>
                  <a:srgbClr val="2F7D5A"/>
                </a:solidFill>
                <a:latin typeface="Calibri"/>
                <a:ea typeface="Calibri"/>
                <a:cs typeface="Calibri"/>
                <a:sym typeface="Calibri"/>
              </a:rPr>
              <a:t>დაჯავშნა წარმატებით დადასტურდა!</a:t>
            </a:r>
            <a:endParaRPr b="0" i="0" sz="850" u="none" cap="none" strike="noStrike">
              <a:solidFill>
                <a:schemeClr val="dk1"/>
              </a:solidFill>
              <a:latin typeface="Calibri"/>
              <a:ea typeface="Calibri"/>
              <a:cs typeface="Calibri"/>
              <a:sym typeface="Calibri"/>
            </a:endParaRPr>
          </a:p>
        </p:txBody>
      </p:sp>
      <p:sp>
        <p:nvSpPr>
          <p:cNvPr id="458" name="Google Shape;458;p15"/>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E"/>
        </a:solidFill>
      </p:bgPr>
    </p:bg>
    <p:spTree>
      <p:nvGrpSpPr>
        <p:cNvPr id="463" name="Shape 463"/>
        <p:cNvGrpSpPr/>
        <p:nvPr/>
      </p:nvGrpSpPr>
      <p:grpSpPr>
        <a:xfrm>
          <a:off x="0" y="0"/>
          <a:ext cx="0" cy="0"/>
          <a:chOff x="0" y="0"/>
          <a:chExt cx="0" cy="0"/>
        </a:xfrm>
      </p:grpSpPr>
      <p:sp>
        <p:nvSpPr>
          <p:cNvPr id="464" name="Google Shape;464;p16"/>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ტექნოლოგიები და გაშვება</a:t>
            </a:r>
            <a:endParaRPr b="0" i="0" sz="2800" u="none" cap="none" strike="noStrike">
              <a:solidFill>
                <a:schemeClr val="dk1"/>
              </a:solidFill>
              <a:latin typeface="Calibri"/>
              <a:ea typeface="Calibri"/>
              <a:cs typeface="Calibri"/>
              <a:sym typeface="Calibri"/>
            </a:endParaRPr>
          </a:p>
        </p:txBody>
      </p:sp>
      <p:sp>
        <p:nvSpPr>
          <p:cNvPr id="465" name="Google Shape;465;p16"/>
          <p:cNvSpPr/>
          <p:nvPr/>
        </p:nvSpPr>
        <p:spPr>
          <a:xfrm>
            <a:off x="548640" y="1371600"/>
            <a:ext cx="2526030" cy="1737360"/>
          </a:xfrm>
          <a:prstGeom prst="roundRect">
            <a:avLst>
              <a:gd fmla="val 3684"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a:off x="1445895" y="1600200"/>
            <a:ext cx="731520" cy="7315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de_navy.png" id="467" name="Google Shape;467;p16"/>
          <p:cNvPicPr preferRelativeResize="0"/>
          <p:nvPr/>
        </p:nvPicPr>
        <p:blipFill rotWithShape="1">
          <a:blip r:embed="rId3">
            <a:alphaModFix/>
          </a:blip>
          <a:srcRect b="0" l="0" r="0" t="0"/>
          <a:stretch/>
        </p:blipFill>
        <p:spPr>
          <a:xfrm>
            <a:off x="1628775" y="1783080"/>
            <a:ext cx="365760" cy="365760"/>
          </a:xfrm>
          <a:prstGeom prst="rect">
            <a:avLst/>
          </a:prstGeom>
          <a:noFill/>
          <a:ln>
            <a:noFill/>
          </a:ln>
        </p:spPr>
      </p:pic>
      <p:sp>
        <p:nvSpPr>
          <p:cNvPr id="468" name="Google Shape;468;p16"/>
          <p:cNvSpPr/>
          <p:nvPr/>
        </p:nvSpPr>
        <p:spPr>
          <a:xfrm>
            <a:off x="548640" y="2423160"/>
            <a:ext cx="252603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300"/>
              <a:buFont typeface="Cambria"/>
              <a:buNone/>
            </a:pPr>
            <a:r>
              <a:rPr b="1" i="0" lang="en-US" sz="1300" u="none" cap="none" strike="noStrike">
                <a:solidFill>
                  <a:srgbClr val="1B2A41"/>
                </a:solidFill>
                <a:latin typeface="Cambria"/>
                <a:ea typeface="Cambria"/>
                <a:cs typeface="Cambria"/>
                <a:sym typeface="Cambria"/>
              </a:rPr>
              <a:t>Python 3</a:t>
            </a:r>
            <a:endParaRPr b="0" i="0" sz="1300" u="none" cap="none" strike="noStrike">
              <a:solidFill>
                <a:schemeClr val="dk1"/>
              </a:solidFill>
              <a:latin typeface="Calibri"/>
              <a:ea typeface="Calibri"/>
              <a:cs typeface="Calibri"/>
              <a:sym typeface="Calibri"/>
            </a:endParaRPr>
          </a:p>
        </p:txBody>
      </p:sp>
      <p:sp>
        <p:nvSpPr>
          <p:cNvPr id="469" name="Google Shape;469;p16"/>
          <p:cNvSpPr/>
          <p:nvPr/>
        </p:nvSpPr>
        <p:spPr>
          <a:xfrm>
            <a:off x="640080" y="2743200"/>
            <a:ext cx="234315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65A"/>
              </a:buClr>
              <a:buSzPts val="950"/>
              <a:buFont typeface="Calibri"/>
              <a:buNone/>
            </a:pPr>
            <a:r>
              <a:rPr b="0" i="0" lang="en-US" sz="950" u="none" cap="none" strike="noStrike">
                <a:solidFill>
                  <a:srgbClr val="6B665A"/>
                </a:solidFill>
                <a:latin typeface="Calibri"/>
                <a:ea typeface="Calibri"/>
                <a:cs typeface="Calibri"/>
                <a:sym typeface="Calibri"/>
              </a:rPr>
              <a:t>OOP — Room / Customer / Hotel</a:t>
            </a:r>
            <a:endParaRPr b="0" i="0" sz="950" u="none" cap="none" strike="noStrike">
              <a:solidFill>
                <a:schemeClr val="dk1"/>
              </a:solidFill>
              <a:latin typeface="Calibri"/>
              <a:ea typeface="Calibri"/>
              <a:cs typeface="Calibri"/>
              <a:sym typeface="Calibri"/>
            </a:endParaRPr>
          </a:p>
        </p:txBody>
      </p:sp>
      <p:sp>
        <p:nvSpPr>
          <p:cNvPr id="470" name="Google Shape;470;p16"/>
          <p:cNvSpPr/>
          <p:nvPr/>
        </p:nvSpPr>
        <p:spPr>
          <a:xfrm>
            <a:off x="3394710" y="1371600"/>
            <a:ext cx="2526030" cy="1737360"/>
          </a:xfrm>
          <a:prstGeom prst="roundRect">
            <a:avLst>
              <a:gd fmla="val 3684"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a:off x="4291965" y="1600200"/>
            <a:ext cx="731520" cy="7315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lask_navy.png" id="472" name="Google Shape;472;p16"/>
          <p:cNvPicPr preferRelativeResize="0"/>
          <p:nvPr/>
        </p:nvPicPr>
        <p:blipFill rotWithShape="1">
          <a:blip r:embed="rId4">
            <a:alphaModFix/>
          </a:blip>
          <a:srcRect b="0" l="0" r="0" t="0"/>
          <a:stretch/>
        </p:blipFill>
        <p:spPr>
          <a:xfrm>
            <a:off x="4474845" y="1783080"/>
            <a:ext cx="365760" cy="365760"/>
          </a:xfrm>
          <a:prstGeom prst="rect">
            <a:avLst/>
          </a:prstGeom>
          <a:noFill/>
          <a:ln>
            <a:noFill/>
          </a:ln>
        </p:spPr>
      </p:pic>
      <p:sp>
        <p:nvSpPr>
          <p:cNvPr id="473" name="Google Shape;473;p16"/>
          <p:cNvSpPr/>
          <p:nvPr/>
        </p:nvSpPr>
        <p:spPr>
          <a:xfrm>
            <a:off x="3394710" y="2423160"/>
            <a:ext cx="252603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300"/>
              <a:buFont typeface="Cambria"/>
              <a:buNone/>
            </a:pPr>
            <a:r>
              <a:rPr b="1" i="0" lang="en-US" sz="1300" u="none" cap="none" strike="noStrike">
                <a:solidFill>
                  <a:srgbClr val="1B2A41"/>
                </a:solidFill>
                <a:latin typeface="Cambria"/>
                <a:ea typeface="Cambria"/>
                <a:cs typeface="Cambria"/>
                <a:sym typeface="Cambria"/>
              </a:rPr>
              <a:t>unittest</a:t>
            </a:r>
            <a:endParaRPr b="0" i="0" sz="1300" u="none" cap="none" strike="noStrike">
              <a:solidFill>
                <a:schemeClr val="dk1"/>
              </a:solidFill>
              <a:latin typeface="Calibri"/>
              <a:ea typeface="Calibri"/>
              <a:cs typeface="Calibri"/>
              <a:sym typeface="Calibri"/>
            </a:endParaRPr>
          </a:p>
        </p:txBody>
      </p:sp>
      <p:sp>
        <p:nvSpPr>
          <p:cNvPr id="474" name="Google Shape;474;p16"/>
          <p:cNvSpPr/>
          <p:nvPr/>
        </p:nvSpPr>
        <p:spPr>
          <a:xfrm>
            <a:off x="3486150" y="2743200"/>
            <a:ext cx="234315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65A"/>
              </a:buClr>
              <a:buSzPts val="950"/>
              <a:buFont typeface="Calibri"/>
              <a:buNone/>
            </a:pPr>
            <a:r>
              <a:rPr b="0" i="0" lang="en-US" sz="950" u="none" cap="none" strike="noStrike">
                <a:solidFill>
                  <a:srgbClr val="6B665A"/>
                </a:solidFill>
                <a:latin typeface="Calibri"/>
                <a:ea typeface="Calibri"/>
                <a:cs typeface="Calibri"/>
                <a:sym typeface="Calibri"/>
              </a:rPr>
              <a:t>11 ტესტი, ყველა გადის</a:t>
            </a:r>
            <a:endParaRPr b="0" i="0" sz="950" u="none" cap="none" strike="noStrike">
              <a:solidFill>
                <a:schemeClr val="dk1"/>
              </a:solidFill>
              <a:latin typeface="Calibri"/>
              <a:ea typeface="Calibri"/>
              <a:cs typeface="Calibri"/>
              <a:sym typeface="Calibri"/>
            </a:endParaRPr>
          </a:p>
        </p:txBody>
      </p:sp>
      <p:sp>
        <p:nvSpPr>
          <p:cNvPr id="475" name="Google Shape;475;p16"/>
          <p:cNvSpPr/>
          <p:nvPr/>
        </p:nvSpPr>
        <p:spPr>
          <a:xfrm>
            <a:off x="6240780" y="1371600"/>
            <a:ext cx="2526030" cy="1737360"/>
          </a:xfrm>
          <a:prstGeom prst="roundRect">
            <a:avLst>
              <a:gd fmla="val 3684"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7138035" y="1600200"/>
            <a:ext cx="731520" cy="7315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lipboard_navy.png" id="477" name="Google Shape;477;p16"/>
          <p:cNvPicPr preferRelativeResize="0"/>
          <p:nvPr/>
        </p:nvPicPr>
        <p:blipFill rotWithShape="1">
          <a:blip r:embed="rId5">
            <a:alphaModFix/>
          </a:blip>
          <a:srcRect b="0" l="0" r="0" t="0"/>
          <a:stretch/>
        </p:blipFill>
        <p:spPr>
          <a:xfrm>
            <a:off x="7320915" y="1783080"/>
            <a:ext cx="365760" cy="365760"/>
          </a:xfrm>
          <a:prstGeom prst="rect">
            <a:avLst/>
          </a:prstGeom>
          <a:noFill/>
          <a:ln>
            <a:noFill/>
          </a:ln>
        </p:spPr>
      </p:pic>
      <p:sp>
        <p:nvSpPr>
          <p:cNvPr id="478" name="Google Shape;478;p16"/>
          <p:cNvSpPr/>
          <p:nvPr/>
        </p:nvSpPr>
        <p:spPr>
          <a:xfrm>
            <a:off x="6240780" y="2423160"/>
            <a:ext cx="252603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300"/>
              <a:buFont typeface="Cambria"/>
              <a:buNone/>
            </a:pPr>
            <a:r>
              <a:rPr b="1" i="0" lang="en-US" sz="1300" u="none" cap="none" strike="noStrike">
                <a:solidFill>
                  <a:srgbClr val="1B2A41"/>
                </a:solidFill>
                <a:latin typeface="Cambria"/>
                <a:ea typeface="Cambria"/>
                <a:cs typeface="Cambria"/>
                <a:sym typeface="Cambria"/>
              </a:rPr>
              <a:t>logging</a:t>
            </a:r>
            <a:endParaRPr b="0" i="0" sz="1300" u="none" cap="none" strike="noStrike">
              <a:solidFill>
                <a:schemeClr val="dk1"/>
              </a:solidFill>
              <a:latin typeface="Calibri"/>
              <a:ea typeface="Calibri"/>
              <a:cs typeface="Calibri"/>
              <a:sym typeface="Calibri"/>
            </a:endParaRPr>
          </a:p>
        </p:txBody>
      </p:sp>
      <p:sp>
        <p:nvSpPr>
          <p:cNvPr id="479" name="Google Shape;479;p16"/>
          <p:cNvSpPr/>
          <p:nvPr/>
        </p:nvSpPr>
        <p:spPr>
          <a:xfrm>
            <a:off x="6332220" y="2743200"/>
            <a:ext cx="234315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65A"/>
              </a:buClr>
              <a:buSzPts val="950"/>
              <a:buFont typeface="Calibri"/>
              <a:buNone/>
            </a:pPr>
            <a:r>
              <a:rPr b="0" i="0" lang="en-US" sz="950" u="none" cap="none" strike="noStrike">
                <a:solidFill>
                  <a:srgbClr val="6B665A"/>
                </a:solidFill>
                <a:latin typeface="Calibri"/>
                <a:ea typeface="Calibri"/>
                <a:cs typeface="Calibri"/>
                <a:sym typeface="Calibri"/>
              </a:rPr>
              <a:t>bookings.log ფაილში</a:t>
            </a:r>
            <a:endParaRPr b="0" i="0" sz="950" u="none" cap="none" strike="noStrike">
              <a:solidFill>
                <a:schemeClr val="dk1"/>
              </a:solidFill>
              <a:latin typeface="Calibri"/>
              <a:ea typeface="Calibri"/>
              <a:cs typeface="Calibri"/>
              <a:sym typeface="Calibri"/>
            </a:endParaRPr>
          </a:p>
        </p:txBody>
      </p:sp>
      <p:sp>
        <p:nvSpPr>
          <p:cNvPr id="480" name="Google Shape;480;p16"/>
          <p:cNvSpPr/>
          <p:nvPr/>
        </p:nvSpPr>
        <p:spPr>
          <a:xfrm>
            <a:off x="9086850" y="1371600"/>
            <a:ext cx="2526030" cy="1737360"/>
          </a:xfrm>
          <a:prstGeom prst="roundRect">
            <a:avLst>
              <a:gd fmla="val 3684"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a:off x="9984105" y="1600200"/>
            <a:ext cx="731520" cy="7315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laptop_navy.png" id="482" name="Google Shape;482;p16"/>
          <p:cNvPicPr preferRelativeResize="0"/>
          <p:nvPr/>
        </p:nvPicPr>
        <p:blipFill rotWithShape="1">
          <a:blip r:embed="rId6">
            <a:alphaModFix/>
          </a:blip>
          <a:srcRect b="0" l="0" r="0" t="0"/>
          <a:stretch/>
        </p:blipFill>
        <p:spPr>
          <a:xfrm>
            <a:off x="10166985" y="1783080"/>
            <a:ext cx="365760" cy="365760"/>
          </a:xfrm>
          <a:prstGeom prst="rect">
            <a:avLst/>
          </a:prstGeom>
          <a:noFill/>
          <a:ln>
            <a:noFill/>
          </a:ln>
        </p:spPr>
      </p:pic>
      <p:sp>
        <p:nvSpPr>
          <p:cNvPr id="483" name="Google Shape;483;p16"/>
          <p:cNvSpPr/>
          <p:nvPr/>
        </p:nvSpPr>
        <p:spPr>
          <a:xfrm>
            <a:off x="9086850" y="2423160"/>
            <a:ext cx="252603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1"/>
              </a:buClr>
              <a:buSzPts val="1300"/>
              <a:buFont typeface="Cambria"/>
              <a:buNone/>
            </a:pPr>
            <a:r>
              <a:rPr b="1" i="0" lang="en-US" sz="1300" u="none" cap="none" strike="noStrike">
                <a:solidFill>
                  <a:srgbClr val="1B2A41"/>
                </a:solidFill>
                <a:latin typeface="Cambria"/>
                <a:ea typeface="Cambria"/>
                <a:cs typeface="Cambria"/>
                <a:sym typeface="Cambria"/>
              </a:rPr>
              <a:t>HTML / CSS</a:t>
            </a:r>
            <a:endParaRPr b="0" i="0" sz="1300" u="none" cap="none" strike="noStrike">
              <a:solidFill>
                <a:schemeClr val="dk1"/>
              </a:solidFill>
              <a:latin typeface="Calibri"/>
              <a:ea typeface="Calibri"/>
              <a:cs typeface="Calibri"/>
              <a:sym typeface="Calibri"/>
            </a:endParaRPr>
          </a:p>
        </p:txBody>
      </p:sp>
      <p:sp>
        <p:nvSpPr>
          <p:cNvPr id="484" name="Google Shape;484;p16"/>
          <p:cNvSpPr/>
          <p:nvPr/>
        </p:nvSpPr>
        <p:spPr>
          <a:xfrm>
            <a:off x="9178290" y="2743200"/>
            <a:ext cx="234315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665A"/>
              </a:buClr>
              <a:buSzPts val="950"/>
              <a:buFont typeface="Calibri"/>
              <a:buNone/>
            </a:pPr>
            <a:r>
              <a:rPr b="0" i="0" lang="en-US" sz="950" u="none" cap="none" strike="noStrike">
                <a:solidFill>
                  <a:srgbClr val="6B665A"/>
                </a:solidFill>
                <a:latin typeface="Calibri"/>
                <a:ea typeface="Calibri"/>
                <a:cs typeface="Calibri"/>
                <a:sym typeface="Calibri"/>
              </a:rPr>
              <a:t>სემანტიკური სტრუქტურა</a:t>
            </a:r>
            <a:endParaRPr b="0" i="0" sz="950" u="none" cap="none" strike="noStrike">
              <a:solidFill>
                <a:schemeClr val="dk1"/>
              </a:solidFill>
              <a:latin typeface="Calibri"/>
              <a:ea typeface="Calibri"/>
              <a:cs typeface="Calibri"/>
              <a:sym typeface="Calibri"/>
            </a:endParaRPr>
          </a:p>
        </p:txBody>
      </p:sp>
      <p:sp>
        <p:nvSpPr>
          <p:cNvPr id="485" name="Google Shape;485;p16"/>
          <p:cNvSpPr/>
          <p:nvPr/>
        </p:nvSpPr>
        <p:spPr>
          <a:xfrm>
            <a:off x="548640" y="3383280"/>
            <a:ext cx="5212080" cy="2606040"/>
          </a:xfrm>
          <a:prstGeom prst="roundRect">
            <a:avLst>
              <a:gd fmla="val 2105" name="adj"/>
            </a:avLst>
          </a:prstGeom>
          <a:solidFill>
            <a:srgbClr val="1B2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a:off x="777240" y="3566160"/>
            <a:ext cx="47548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15A"/>
              </a:buClr>
              <a:buSzPts val="1250"/>
              <a:buFont typeface="Calibri"/>
              <a:buNone/>
            </a:pPr>
            <a:r>
              <a:rPr b="1" i="0" lang="en-US" sz="1250" u="none" cap="none" strike="noStrike">
                <a:solidFill>
                  <a:srgbClr val="C9A15A"/>
                </a:solidFill>
                <a:latin typeface="Calibri"/>
                <a:ea typeface="Calibri"/>
                <a:cs typeface="Calibri"/>
                <a:sym typeface="Calibri"/>
              </a:rPr>
              <a:t>რეპოზიტორის სტრუქტურა</a:t>
            </a:r>
            <a:endParaRPr b="0" i="0" sz="1250" u="none" cap="none" strike="noStrike">
              <a:solidFill>
                <a:schemeClr val="dk1"/>
              </a:solidFill>
              <a:latin typeface="Calibri"/>
              <a:ea typeface="Calibri"/>
              <a:cs typeface="Calibri"/>
              <a:sym typeface="Calibri"/>
            </a:endParaRPr>
          </a:p>
        </p:txBody>
      </p:sp>
      <p:sp>
        <p:nvSpPr>
          <p:cNvPr id="487" name="Google Shape;487;p16"/>
          <p:cNvSpPr/>
          <p:nvPr/>
        </p:nvSpPr>
        <p:spPr>
          <a:xfrm>
            <a:off x="777240" y="3931920"/>
            <a:ext cx="4754880" cy="192024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EDE9DB"/>
              </a:buClr>
              <a:buSzPts val="1150"/>
              <a:buFont typeface="Courier New"/>
              <a:buNone/>
            </a:pPr>
            <a:r>
              <a:rPr b="0" i="0" lang="en-US" sz="1150" u="none" cap="none" strike="noStrike">
                <a:solidFill>
                  <a:srgbClr val="EDE9DB"/>
                </a:solidFill>
                <a:latin typeface="Courier New"/>
                <a:ea typeface="Courier New"/>
                <a:cs typeface="Courier New"/>
                <a:sym typeface="Courier New"/>
              </a:rPr>
              <a:t>backend/</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50"/>
              <a:buFont typeface="Courier New"/>
              <a:buNone/>
            </a:pPr>
            <a:r>
              <a:rPr b="0" i="0" lang="en-US" sz="1150" u="none" cap="none" strike="noStrike">
                <a:solidFill>
                  <a:srgbClr val="EDE9DB"/>
                </a:solidFill>
                <a:latin typeface="Courier New"/>
                <a:ea typeface="Courier New"/>
                <a:cs typeface="Courier New"/>
                <a:sym typeface="Courier New"/>
              </a:rPr>
              <a:t>  hotel_booking.py</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50"/>
              <a:buFont typeface="Courier New"/>
              <a:buNone/>
            </a:pPr>
            <a:r>
              <a:rPr b="0" i="0" lang="en-US" sz="1150" u="none" cap="none" strike="noStrike">
                <a:solidFill>
                  <a:srgbClr val="EDE9DB"/>
                </a:solidFill>
                <a:latin typeface="Courier New"/>
                <a:ea typeface="Courier New"/>
                <a:cs typeface="Courier New"/>
                <a:sym typeface="Courier New"/>
              </a:rPr>
              <a:t>  test_hotel_booking.py</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50"/>
              <a:buFont typeface="Courier New"/>
              <a:buNone/>
            </a:pPr>
            <a:r>
              <a:rPr b="0" i="0" lang="en-US" sz="1150" u="none" cap="none" strike="noStrike">
                <a:solidFill>
                  <a:srgbClr val="EDE9DB"/>
                </a:solidFill>
                <a:latin typeface="Courier New"/>
                <a:ea typeface="Courier New"/>
                <a:cs typeface="Courier New"/>
                <a:sym typeface="Courier New"/>
              </a:rPr>
              <a:t>frontend/</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50"/>
              <a:buFont typeface="Courier New"/>
              <a:buNone/>
            </a:pPr>
            <a:r>
              <a:rPr b="0" i="0" lang="en-US" sz="1150" u="none" cap="none" strike="noStrike">
                <a:solidFill>
                  <a:srgbClr val="EDE9DB"/>
                </a:solidFill>
                <a:latin typeface="Courier New"/>
                <a:ea typeface="Courier New"/>
                <a:cs typeface="Courier New"/>
                <a:sym typeface="Courier New"/>
              </a:rPr>
              <a:t>  index.html</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50"/>
              <a:buFont typeface="Courier New"/>
              <a:buNone/>
            </a:pPr>
            <a:r>
              <a:rPr b="0" i="0" lang="en-US" sz="1150" u="none" cap="none" strike="noStrike">
                <a:solidFill>
                  <a:srgbClr val="EDE9DB"/>
                </a:solidFill>
                <a:latin typeface="Courier New"/>
                <a:ea typeface="Courier New"/>
                <a:cs typeface="Courier New"/>
                <a:sym typeface="Courier New"/>
              </a:rPr>
              <a:t>README.md</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DE9DB"/>
              </a:buClr>
              <a:buSzPts val="1150"/>
              <a:buFont typeface="Courier New"/>
              <a:buNone/>
            </a:pPr>
            <a:r>
              <a:rPr b="0" i="0" lang="en-US" sz="1150" u="none" cap="none" strike="noStrike">
                <a:solidFill>
                  <a:srgbClr val="EDE9DB"/>
                </a:solidFill>
                <a:latin typeface="Courier New"/>
                <a:ea typeface="Courier New"/>
                <a:cs typeface="Courier New"/>
                <a:sym typeface="Courier New"/>
              </a:rPr>
              <a:t>.gitignore</a:t>
            </a:r>
            <a:endParaRPr b="0" i="0" sz="1150" u="none" cap="none" strike="noStrike">
              <a:solidFill>
                <a:schemeClr val="dk1"/>
              </a:solidFill>
              <a:latin typeface="Calibri"/>
              <a:ea typeface="Calibri"/>
              <a:cs typeface="Calibri"/>
              <a:sym typeface="Calibri"/>
            </a:endParaRPr>
          </a:p>
        </p:txBody>
      </p:sp>
      <p:sp>
        <p:nvSpPr>
          <p:cNvPr id="488" name="Google Shape;488;p16"/>
          <p:cNvSpPr/>
          <p:nvPr/>
        </p:nvSpPr>
        <p:spPr>
          <a:xfrm>
            <a:off x="5989320" y="3383280"/>
            <a:ext cx="5074920" cy="2606040"/>
          </a:xfrm>
          <a:prstGeom prst="roundRect">
            <a:avLst>
              <a:gd fmla="val 2105" name="adj"/>
            </a:avLst>
          </a:prstGeom>
          <a:solidFill>
            <a:srgbClr val="FFFFFF"/>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6217920" y="3566160"/>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250"/>
              <a:buFont typeface="Calibri"/>
              <a:buNone/>
            </a:pPr>
            <a:r>
              <a:rPr b="1" i="0" lang="en-US" sz="1250" u="none" cap="none" strike="noStrike">
                <a:solidFill>
                  <a:srgbClr val="1B2A41"/>
                </a:solidFill>
                <a:latin typeface="Calibri"/>
                <a:ea typeface="Calibri"/>
                <a:cs typeface="Calibri"/>
                <a:sym typeface="Calibri"/>
              </a:rPr>
              <a:t>გაშვების ბრძანებები</a:t>
            </a:r>
            <a:endParaRPr b="0" i="0" sz="1250" u="none" cap="none" strike="noStrike">
              <a:solidFill>
                <a:schemeClr val="dk1"/>
              </a:solidFill>
              <a:latin typeface="Calibri"/>
              <a:ea typeface="Calibri"/>
              <a:cs typeface="Calibri"/>
              <a:sym typeface="Calibri"/>
            </a:endParaRPr>
          </a:p>
        </p:txBody>
      </p:sp>
      <p:sp>
        <p:nvSpPr>
          <p:cNvPr id="490" name="Google Shape;490;p16"/>
          <p:cNvSpPr/>
          <p:nvPr/>
        </p:nvSpPr>
        <p:spPr>
          <a:xfrm>
            <a:off x="6217920" y="3931920"/>
            <a:ext cx="4572000" cy="192024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2B2B28"/>
              </a:buClr>
              <a:buSzPts val="1150"/>
              <a:buFont typeface="Courier New"/>
              <a:buNone/>
            </a:pPr>
            <a:r>
              <a:rPr b="0" i="0" lang="en-US" sz="1150" u="none" cap="none" strike="noStrike">
                <a:solidFill>
                  <a:srgbClr val="2B2B28"/>
                </a:solidFill>
                <a:latin typeface="Courier New"/>
                <a:ea typeface="Courier New"/>
                <a:cs typeface="Courier New"/>
                <a:sym typeface="Courier New"/>
              </a:rPr>
              <a:t>cd backend</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2B2B28"/>
              </a:buClr>
              <a:buSzPts val="1150"/>
              <a:buFont typeface="Courier New"/>
              <a:buNone/>
            </a:pPr>
            <a:r>
              <a:rPr b="0" i="0" lang="en-US" sz="1150" u="none" cap="none" strike="noStrike">
                <a:solidFill>
                  <a:srgbClr val="2B2B28"/>
                </a:solidFill>
                <a:latin typeface="Courier New"/>
                <a:ea typeface="Courier New"/>
                <a:cs typeface="Courier New"/>
                <a:sym typeface="Courier New"/>
              </a:rPr>
              <a:t>python3 hotel_booking.py</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2B2B28"/>
              </a:buClr>
              <a:buSzPts val="1150"/>
              <a:buFont typeface="Courier New"/>
              <a:buNone/>
            </a:pPr>
            <a:r>
              <a:rPr b="0" i="0" lang="en-US" sz="1150" u="none" cap="none" strike="noStrike">
                <a:solidFill>
                  <a:srgbClr val="2B2B28"/>
                </a:solidFill>
                <a:latin typeface="Courier New"/>
                <a:ea typeface="Courier New"/>
                <a:cs typeface="Courier New"/>
                <a:sym typeface="Courier New"/>
              </a:rPr>
              <a:t>python3 -m unittest \</a:t>
            </a:r>
            <a:endParaRPr b="0" i="0" sz="115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2B2B28"/>
              </a:buClr>
              <a:buSzPts val="1150"/>
              <a:buFont typeface="Courier New"/>
              <a:buNone/>
            </a:pPr>
            <a:r>
              <a:rPr b="0" i="0" lang="en-US" sz="1150" u="none" cap="none" strike="noStrike">
                <a:solidFill>
                  <a:srgbClr val="2B2B28"/>
                </a:solidFill>
                <a:latin typeface="Courier New"/>
                <a:ea typeface="Courier New"/>
                <a:cs typeface="Courier New"/>
                <a:sym typeface="Courier New"/>
              </a:rPr>
              <a:t>  test_hotel_booking.py -v</a:t>
            </a:r>
            <a:endParaRPr b="0" i="0" sz="1150" u="none" cap="none" strike="noStrike">
              <a:solidFill>
                <a:schemeClr val="dk1"/>
              </a:solidFill>
              <a:latin typeface="Calibri"/>
              <a:ea typeface="Calibri"/>
              <a:cs typeface="Calibri"/>
              <a:sym typeface="Calibri"/>
            </a:endParaRPr>
          </a:p>
        </p:txBody>
      </p:sp>
      <p:sp>
        <p:nvSpPr>
          <p:cNvPr id="491" name="Google Shape;491;p16"/>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6" name="Shape 496"/>
        <p:cNvGrpSpPr/>
        <p:nvPr/>
      </p:nvGrpSpPr>
      <p:grpSpPr>
        <a:xfrm>
          <a:off x="0" y="0"/>
          <a:ext cx="0" cy="0"/>
          <a:chOff x="0" y="0"/>
          <a:chExt cx="0" cy="0"/>
        </a:xfrm>
      </p:grpSpPr>
      <p:sp>
        <p:nvSpPr>
          <p:cNvPr id="497" name="Google Shape;497;p17"/>
          <p:cNvSpPr/>
          <p:nvPr/>
        </p:nvSpPr>
        <p:spPr>
          <a:xfrm>
            <a:off x="548640" y="411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2800"/>
              <a:buFont typeface="Cambria"/>
              <a:buNone/>
            </a:pPr>
            <a:r>
              <a:rPr b="1" i="0" lang="en-US" sz="2800" u="none" cap="none" strike="noStrike">
                <a:solidFill>
                  <a:srgbClr val="1B2A41"/>
                </a:solidFill>
                <a:latin typeface="Cambria"/>
                <a:ea typeface="Cambria"/>
                <a:cs typeface="Cambria"/>
                <a:sym typeface="Cambria"/>
              </a:rPr>
              <a:t>გამოწვევები და დასკვნები</a:t>
            </a:r>
            <a:endParaRPr b="0" i="0" sz="2800" u="none" cap="none" strike="noStrike">
              <a:solidFill>
                <a:schemeClr val="dk1"/>
              </a:solidFill>
              <a:latin typeface="Calibri"/>
              <a:ea typeface="Calibri"/>
              <a:cs typeface="Calibri"/>
              <a:sym typeface="Calibri"/>
            </a:endParaRPr>
          </a:p>
        </p:txBody>
      </p:sp>
      <p:sp>
        <p:nvSpPr>
          <p:cNvPr id="498" name="Google Shape;498;p17"/>
          <p:cNvSpPr/>
          <p:nvPr/>
        </p:nvSpPr>
        <p:spPr>
          <a:xfrm>
            <a:off x="548640" y="1280160"/>
            <a:ext cx="5212080" cy="4572000"/>
          </a:xfrm>
          <a:prstGeom prst="roundRect">
            <a:avLst>
              <a:gd fmla="val 1400" name="adj"/>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a:off x="822960" y="1554480"/>
            <a:ext cx="640080" cy="64008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warning_navy.png" id="500" name="Google Shape;500;p17"/>
          <p:cNvPicPr preferRelativeResize="0"/>
          <p:nvPr/>
        </p:nvPicPr>
        <p:blipFill rotWithShape="1">
          <a:blip r:embed="rId3">
            <a:alphaModFix/>
          </a:blip>
          <a:srcRect b="0" l="0" r="0" t="0"/>
          <a:stretch/>
        </p:blipFill>
        <p:spPr>
          <a:xfrm>
            <a:off x="969264" y="1700784"/>
            <a:ext cx="347472" cy="347472"/>
          </a:xfrm>
          <a:prstGeom prst="rect">
            <a:avLst/>
          </a:prstGeom>
          <a:noFill/>
          <a:ln>
            <a:noFill/>
          </a:ln>
        </p:spPr>
      </p:pic>
      <p:sp>
        <p:nvSpPr>
          <p:cNvPr id="501" name="Google Shape;501;p17"/>
          <p:cNvSpPr/>
          <p:nvPr/>
        </p:nvSpPr>
        <p:spPr>
          <a:xfrm>
            <a:off x="1645920" y="1554480"/>
            <a:ext cx="3931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600"/>
              <a:buFont typeface="Cambria"/>
              <a:buNone/>
            </a:pPr>
            <a:r>
              <a:rPr b="1" i="0" lang="en-US" sz="1600" u="none" cap="none" strike="noStrike">
                <a:solidFill>
                  <a:srgbClr val="1B2A41"/>
                </a:solidFill>
                <a:latin typeface="Cambria"/>
                <a:ea typeface="Cambria"/>
                <a:cs typeface="Cambria"/>
                <a:sym typeface="Cambria"/>
              </a:rPr>
              <a:t>გამოწვევები</a:t>
            </a:r>
            <a:endParaRPr b="0" i="0" sz="1600" u="none" cap="none" strike="noStrike">
              <a:solidFill>
                <a:schemeClr val="dk1"/>
              </a:solidFill>
              <a:latin typeface="Calibri"/>
              <a:ea typeface="Calibri"/>
              <a:cs typeface="Calibri"/>
              <a:sym typeface="Calibri"/>
            </a:endParaRPr>
          </a:p>
        </p:txBody>
      </p:sp>
      <p:sp>
        <p:nvSpPr>
          <p:cNvPr id="502" name="Google Shape;502;p17"/>
          <p:cNvSpPr/>
          <p:nvPr/>
        </p:nvSpPr>
        <p:spPr>
          <a:xfrm>
            <a:off x="822960" y="233172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250"/>
              <a:buFont typeface="Calibri"/>
              <a:buNone/>
            </a:pPr>
            <a:r>
              <a:rPr b="1" i="0" lang="en-US" sz="1250" u="none" cap="none" strike="noStrike">
                <a:solidFill>
                  <a:srgbClr val="A9803E"/>
                </a:solidFill>
                <a:latin typeface="Calibri"/>
                <a:ea typeface="Calibri"/>
                <a:cs typeface="Calibri"/>
                <a:sym typeface="Calibri"/>
              </a:rPr>
              <a:t>კონსოლის კოდირება</a:t>
            </a:r>
            <a:endParaRPr b="0" i="0" sz="1250" u="none" cap="none" strike="noStrike">
              <a:solidFill>
                <a:schemeClr val="dk1"/>
              </a:solidFill>
              <a:latin typeface="Calibri"/>
              <a:ea typeface="Calibri"/>
              <a:cs typeface="Calibri"/>
              <a:sym typeface="Calibri"/>
            </a:endParaRPr>
          </a:p>
        </p:txBody>
      </p:sp>
      <p:sp>
        <p:nvSpPr>
          <p:cNvPr id="503" name="Google Shape;503;p17"/>
          <p:cNvSpPr/>
          <p:nvPr/>
        </p:nvSpPr>
        <p:spPr>
          <a:xfrm>
            <a:off x="822960" y="2651760"/>
            <a:ext cx="46634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100"/>
              <a:buFont typeface="Calibri"/>
              <a:buNone/>
            </a:pPr>
            <a:r>
              <a:rPr b="0" i="0" lang="en-US" sz="1100" u="none" cap="none" strike="noStrike">
                <a:solidFill>
                  <a:srgbClr val="2B2B28"/>
                </a:solidFill>
                <a:latin typeface="Calibri"/>
                <a:ea typeface="Calibri"/>
                <a:cs typeface="Calibri"/>
                <a:sym typeface="Calibri"/>
              </a:rPr>
              <a:t>ტერმინალი ვერ ამუშავებდა ქართულ სიმბოლოებს input()/print()-ში — ტექსტი ინგლისურად გადავიტანე.</a:t>
            </a:r>
            <a:endParaRPr b="0" i="0" sz="1100" u="none" cap="none" strike="noStrike">
              <a:solidFill>
                <a:schemeClr val="dk1"/>
              </a:solidFill>
              <a:latin typeface="Calibri"/>
              <a:ea typeface="Calibri"/>
              <a:cs typeface="Calibri"/>
              <a:sym typeface="Calibri"/>
            </a:endParaRPr>
          </a:p>
        </p:txBody>
      </p:sp>
      <p:sp>
        <p:nvSpPr>
          <p:cNvPr id="504" name="Google Shape;504;p17"/>
          <p:cNvSpPr/>
          <p:nvPr/>
        </p:nvSpPr>
        <p:spPr>
          <a:xfrm>
            <a:off x="822960" y="352044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250"/>
              <a:buFont typeface="Calibri"/>
              <a:buNone/>
            </a:pPr>
            <a:r>
              <a:rPr b="1" i="0" lang="en-US" sz="1250" u="none" cap="none" strike="noStrike">
                <a:solidFill>
                  <a:srgbClr val="A9803E"/>
                </a:solidFill>
                <a:latin typeface="Calibri"/>
                <a:ea typeface="Calibri"/>
                <a:cs typeface="Calibri"/>
                <a:sym typeface="Calibri"/>
              </a:rPr>
              <a:t>'ნახევრად დასრულებული' დაჯავშნა</a:t>
            </a:r>
            <a:endParaRPr b="0" i="0" sz="1250" u="none" cap="none" strike="noStrike">
              <a:solidFill>
                <a:schemeClr val="dk1"/>
              </a:solidFill>
              <a:latin typeface="Calibri"/>
              <a:ea typeface="Calibri"/>
              <a:cs typeface="Calibri"/>
              <a:sym typeface="Calibri"/>
            </a:endParaRPr>
          </a:p>
        </p:txBody>
      </p:sp>
      <p:sp>
        <p:nvSpPr>
          <p:cNvPr id="505" name="Google Shape;505;p17"/>
          <p:cNvSpPr/>
          <p:nvPr/>
        </p:nvSpPr>
        <p:spPr>
          <a:xfrm>
            <a:off x="822960" y="3840480"/>
            <a:ext cx="46634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100"/>
              <a:buFont typeface="Calibri"/>
              <a:buNone/>
            </a:pPr>
            <a:r>
              <a:rPr b="0" i="0" lang="en-US" sz="1100" u="none" cap="none" strike="noStrike">
                <a:solidFill>
                  <a:srgbClr val="2B2B28"/>
                </a:solidFill>
                <a:latin typeface="Calibri"/>
                <a:ea typeface="Calibri"/>
                <a:cs typeface="Calibri"/>
                <a:sym typeface="Calibri"/>
              </a:rPr>
              <a:t>ვდარწმუნდი, რომ ოთახი მხოლოდ წარმატებული გადახდის შემდეგ ჩაითვლება დაკავებულად.</a:t>
            </a:r>
            <a:endParaRPr b="0" i="0" sz="1100" u="none" cap="none" strike="noStrike">
              <a:solidFill>
                <a:schemeClr val="dk1"/>
              </a:solidFill>
              <a:latin typeface="Calibri"/>
              <a:ea typeface="Calibri"/>
              <a:cs typeface="Calibri"/>
              <a:sym typeface="Calibri"/>
            </a:endParaRPr>
          </a:p>
        </p:txBody>
      </p:sp>
      <p:sp>
        <p:nvSpPr>
          <p:cNvPr id="506" name="Google Shape;506;p17"/>
          <p:cNvSpPr/>
          <p:nvPr/>
        </p:nvSpPr>
        <p:spPr>
          <a:xfrm>
            <a:off x="822960" y="470916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803E"/>
              </a:buClr>
              <a:buSzPts val="1250"/>
              <a:buFont typeface="Calibri"/>
              <a:buNone/>
            </a:pPr>
            <a:r>
              <a:rPr b="1" i="0" lang="en-US" sz="1250" u="none" cap="none" strike="noStrike">
                <a:solidFill>
                  <a:srgbClr val="A9803E"/>
                </a:solidFill>
                <a:latin typeface="Calibri"/>
                <a:ea typeface="Calibri"/>
                <a:cs typeface="Calibri"/>
                <a:sym typeface="Calibri"/>
              </a:rPr>
              <a:t>სეზონურობის ლოგიკის გამარტივება</a:t>
            </a:r>
            <a:endParaRPr b="0" i="0" sz="1250" u="none" cap="none" strike="noStrike">
              <a:solidFill>
                <a:schemeClr val="dk1"/>
              </a:solidFill>
              <a:latin typeface="Calibri"/>
              <a:ea typeface="Calibri"/>
              <a:cs typeface="Calibri"/>
              <a:sym typeface="Calibri"/>
            </a:endParaRPr>
          </a:p>
        </p:txBody>
      </p:sp>
      <p:sp>
        <p:nvSpPr>
          <p:cNvPr id="507" name="Google Shape;507;p17"/>
          <p:cNvSpPr/>
          <p:nvPr/>
        </p:nvSpPr>
        <p:spPr>
          <a:xfrm>
            <a:off x="822960" y="5029200"/>
            <a:ext cx="46634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100"/>
              <a:buFont typeface="Calibri"/>
              <a:buNone/>
            </a:pPr>
            <a:r>
              <a:rPr b="0" i="0" lang="en-US" sz="1100" u="none" cap="none" strike="noStrike">
                <a:solidFill>
                  <a:srgbClr val="2B2B28"/>
                </a:solidFill>
                <a:latin typeface="Calibri"/>
                <a:ea typeface="Calibri"/>
                <a:cs typeface="Calibri"/>
                <a:sym typeface="Calibri"/>
              </a:rPr>
              <a:t>სამსაფეხურიანი კოეფიციენტი ავირჩიე რთული კალენდარული წესების ნაცვლად — მარტივი და საკმარისად რეალისტური.</a:t>
            </a:r>
            <a:endParaRPr b="0" i="0" sz="1100" u="none" cap="none" strike="noStrike">
              <a:solidFill>
                <a:schemeClr val="dk1"/>
              </a:solidFill>
              <a:latin typeface="Calibri"/>
              <a:ea typeface="Calibri"/>
              <a:cs typeface="Calibri"/>
              <a:sym typeface="Calibri"/>
            </a:endParaRPr>
          </a:p>
        </p:txBody>
      </p:sp>
      <p:sp>
        <p:nvSpPr>
          <p:cNvPr id="508" name="Google Shape;508;p17"/>
          <p:cNvSpPr/>
          <p:nvPr/>
        </p:nvSpPr>
        <p:spPr>
          <a:xfrm>
            <a:off x="6080760" y="1280160"/>
            <a:ext cx="5212080" cy="4572000"/>
          </a:xfrm>
          <a:prstGeom prst="roundRect">
            <a:avLst>
              <a:gd fmla="val 1400" name="adj"/>
            </a:avLst>
          </a:prstGeom>
          <a:solidFill>
            <a:srgbClr val="F7F4EE"/>
          </a:solidFill>
          <a:ln cap="flat" cmpd="sng" w="12700">
            <a:solidFill>
              <a:srgbClr val="E2D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6355080" y="1554480"/>
            <a:ext cx="640080" cy="64008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rocket_navy.png" id="510" name="Google Shape;510;p17"/>
          <p:cNvPicPr preferRelativeResize="0"/>
          <p:nvPr/>
        </p:nvPicPr>
        <p:blipFill rotWithShape="1">
          <a:blip r:embed="rId4">
            <a:alphaModFix/>
          </a:blip>
          <a:srcRect b="0" l="0" r="0" t="0"/>
          <a:stretch/>
        </p:blipFill>
        <p:spPr>
          <a:xfrm>
            <a:off x="6501384" y="1700784"/>
            <a:ext cx="347472" cy="347472"/>
          </a:xfrm>
          <a:prstGeom prst="rect">
            <a:avLst/>
          </a:prstGeom>
          <a:noFill/>
          <a:ln>
            <a:noFill/>
          </a:ln>
        </p:spPr>
      </p:pic>
      <p:sp>
        <p:nvSpPr>
          <p:cNvPr id="511" name="Google Shape;511;p17"/>
          <p:cNvSpPr/>
          <p:nvPr/>
        </p:nvSpPr>
        <p:spPr>
          <a:xfrm>
            <a:off x="7178040" y="1554480"/>
            <a:ext cx="39319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1"/>
              </a:buClr>
              <a:buSzPts val="1600"/>
              <a:buFont typeface="Cambria"/>
              <a:buNone/>
            </a:pPr>
            <a:r>
              <a:rPr b="1" i="0" lang="en-US" sz="1600" u="none" cap="none" strike="noStrike">
                <a:solidFill>
                  <a:srgbClr val="1B2A41"/>
                </a:solidFill>
                <a:latin typeface="Cambria"/>
                <a:ea typeface="Cambria"/>
                <a:cs typeface="Cambria"/>
                <a:sym typeface="Cambria"/>
              </a:rPr>
              <a:t>შემდეგი ნაბიჯები</a:t>
            </a:r>
            <a:endParaRPr b="0" i="0" sz="1600" u="none" cap="none" strike="noStrike">
              <a:solidFill>
                <a:schemeClr val="dk1"/>
              </a:solidFill>
              <a:latin typeface="Calibri"/>
              <a:ea typeface="Calibri"/>
              <a:cs typeface="Calibri"/>
              <a:sym typeface="Calibri"/>
            </a:endParaRPr>
          </a:p>
        </p:txBody>
      </p:sp>
      <p:sp>
        <p:nvSpPr>
          <p:cNvPr id="512" name="Google Shape;512;p17"/>
          <p:cNvSpPr/>
          <p:nvPr/>
        </p:nvSpPr>
        <p:spPr>
          <a:xfrm>
            <a:off x="6355080" y="2377440"/>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7"/>
          <p:cNvSpPr/>
          <p:nvPr/>
        </p:nvSpPr>
        <p:spPr>
          <a:xfrm>
            <a:off x="6629400" y="2258568"/>
            <a:ext cx="438912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Back-End-ისა და Front-End-ის დაკავშირება REST API-ით (Flask/FastAPI)</a:t>
            </a:r>
            <a:endParaRPr b="0" i="0" sz="1200" u="none" cap="none" strike="noStrike">
              <a:solidFill>
                <a:schemeClr val="dk1"/>
              </a:solidFill>
              <a:latin typeface="Calibri"/>
              <a:ea typeface="Calibri"/>
              <a:cs typeface="Calibri"/>
              <a:sym typeface="Calibri"/>
            </a:endParaRPr>
          </a:p>
        </p:txBody>
      </p:sp>
      <p:sp>
        <p:nvSpPr>
          <p:cNvPr id="514" name="Google Shape;514;p17"/>
          <p:cNvSpPr/>
          <p:nvPr/>
        </p:nvSpPr>
        <p:spPr>
          <a:xfrm>
            <a:off x="6355080" y="3200400"/>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6629400" y="3081528"/>
            <a:ext cx="438912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მონაცემების შენახვა ფაილში ან მონაცემთა ბაზაში (SQLite)</a:t>
            </a:r>
            <a:endParaRPr b="0" i="0" sz="1200" u="none" cap="none" strike="noStrike">
              <a:solidFill>
                <a:schemeClr val="dk1"/>
              </a:solidFill>
              <a:latin typeface="Calibri"/>
              <a:ea typeface="Calibri"/>
              <a:cs typeface="Calibri"/>
              <a:sym typeface="Calibri"/>
            </a:endParaRPr>
          </a:p>
        </p:txBody>
      </p:sp>
      <p:sp>
        <p:nvSpPr>
          <p:cNvPr id="516" name="Google Shape;516;p17"/>
          <p:cNvSpPr/>
          <p:nvPr/>
        </p:nvSpPr>
        <p:spPr>
          <a:xfrm>
            <a:off x="6355080" y="4023360"/>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6629400" y="3904488"/>
            <a:ext cx="438912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ავტორიზაცია და მრავალი მომხმარებლის ერთდროული მხარდაჭერა</a:t>
            </a:r>
            <a:endParaRPr b="0" i="0" sz="1200" u="none" cap="none" strike="noStrike">
              <a:solidFill>
                <a:schemeClr val="dk1"/>
              </a:solidFill>
              <a:latin typeface="Calibri"/>
              <a:ea typeface="Calibri"/>
              <a:cs typeface="Calibri"/>
              <a:sym typeface="Calibri"/>
            </a:endParaRPr>
          </a:p>
        </p:txBody>
      </p:sp>
      <p:sp>
        <p:nvSpPr>
          <p:cNvPr id="518" name="Google Shape;518;p17"/>
          <p:cNvSpPr/>
          <p:nvPr/>
        </p:nvSpPr>
        <p:spPr>
          <a:xfrm>
            <a:off x="6355080" y="4846320"/>
            <a:ext cx="109728" cy="109728"/>
          </a:xfrm>
          <a:prstGeom prst="ellipse">
            <a:avLst/>
          </a:prstGeom>
          <a:solidFill>
            <a:srgbClr val="A980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7"/>
          <p:cNvSpPr/>
          <p:nvPr/>
        </p:nvSpPr>
        <p:spPr>
          <a:xfrm>
            <a:off x="6629400" y="4727448"/>
            <a:ext cx="438912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B2B28"/>
              </a:buClr>
              <a:buSzPts val="1200"/>
              <a:buFont typeface="Calibri"/>
              <a:buNone/>
            </a:pPr>
            <a:r>
              <a:rPr b="0" i="0" lang="en-US" sz="1200" u="none" cap="none" strike="noStrike">
                <a:solidFill>
                  <a:srgbClr val="2B2B28"/>
                </a:solidFill>
                <a:latin typeface="Calibri"/>
                <a:ea typeface="Calibri"/>
                <a:cs typeface="Calibri"/>
                <a:sym typeface="Calibri"/>
              </a:rPr>
              <a:t>სტუმრების შეფასებები და გაფართოებული ჯილდოს დონეები</a:t>
            </a:r>
            <a:endParaRPr b="0" i="0" sz="1200" u="none" cap="none" strike="noStrike">
              <a:solidFill>
                <a:schemeClr val="dk1"/>
              </a:solidFill>
              <a:latin typeface="Calibri"/>
              <a:ea typeface="Calibri"/>
              <a:cs typeface="Calibri"/>
              <a:sym typeface="Calibri"/>
            </a:endParaRPr>
          </a:p>
        </p:txBody>
      </p:sp>
      <p:sp>
        <p:nvSpPr>
          <p:cNvPr id="520" name="Google Shape;520;p17"/>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1"/>
        </a:solidFill>
      </p:bgPr>
    </p:bg>
    <p:spTree>
      <p:nvGrpSpPr>
        <p:cNvPr id="525" name="Shape 525"/>
        <p:cNvGrpSpPr/>
        <p:nvPr/>
      </p:nvGrpSpPr>
      <p:grpSpPr>
        <a:xfrm>
          <a:off x="0" y="0"/>
          <a:ext cx="0" cy="0"/>
          <a:chOff x="0" y="0"/>
          <a:chExt cx="0" cy="0"/>
        </a:xfrm>
      </p:grpSpPr>
      <p:sp>
        <p:nvSpPr>
          <p:cNvPr id="526" name="Google Shape;526;p18"/>
          <p:cNvSpPr/>
          <p:nvPr/>
        </p:nvSpPr>
        <p:spPr>
          <a:xfrm>
            <a:off x="822960" y="822960"/>
            <a:ext cx="731520" cy="731520"/>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hotel_navy.png" id="527" name="Google Shape;527;p18"/>
          <p:cNvPicPr preferRelativeResize="0"/>
          <p:nvPr/>
        </p:nvPicPr>
        <p:blipFill rotWithShape="1">
          <a:blip r:embed="rId3">
            <a:alphaModFix/>
          </a:blip>
          <a:srcRect b="0" l="0" r="0" t="0"/>
          <a:stretch/>
        </p:blipFill>
        <p:spPr>
          <a:xfrm>
            <a:off x="987552" y="987552"/>
            <a:ext cx="402336" cy="402336"/>
          </a:xfrm>
          <a:prstGeom prst="rect">
            <a:avLst/>
          </a:prstGeom>
          <a:noFill/>
          <a:ln>
            <a:noFill/>
          </a:ln>
        </p:spPr>
      </p:pic>
      <p:sp>
        <p:nvSpPr>
          <p:cNvPr id="528" name="Google Shape;528;p18"/>
          <p:cNvSpPr/>
          <p:nvPr/>
        </p:nvSpPr>
        <p:spPr>
          <a:xfrm>
            <a:off x="822960" y="1737360"/>
            <a:ext cx="100584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გმადლობთ ყურადღებისთვის</a:t>
            </a:r>
            <a:endParaRPr b="0" i="0" sz="3400" u="none" cap="none" strike="noStrike">
              <a:solidFill>
                <a:schemeClr val="dk1"/>
              </a:solidFill>
              <a:latin typeface="Calibri"/>
              <a:ea typeface="Calibri"/>
              <a:cs typeface="Calibri"/>
              <a:sym typeface="Calibri"/>
            </a:endParaRPr>
          </a:p>
        </p:txBody>
      </p:sp>
      <p:cxnSp>
        <p:nvCxnSpPr>
          <p:cNvPr id="529" name="Google Shape;529;p18"/>
          <p:cNvCxnSpPr/>
          <p:nvPr/>
        </p:nvCxnSpPr>
        <p:spPr>
          <a:xfrm>
            <a:off x="822960" y="2468880"/>
            <a:ext cx="2011680" cy="0"/>
          </a:xfrm>
          <a:prstGeom prst="straightConnector1">
            <a:avLst/>
          </a:prstGeom>
          <a:noFill/>
          <a:ln cap="flat" cmpd="sng" w="25400">
            <a:solidFill>
              <a:srgbClr val="C9A15A"/>
            </a:solidFill>
            <a:prstDash val="solid"/>
            <a:round/>
            <a:headEnd len="sm" w="sm" type="none"/>
            <a:tailEnd len="sm" w="sm" type="none"/>
          </a:ln>
        </p:spPr>
      </p:cxnSp>
      <p:sp>
        <p:nvSpPr>
          <p:cNvPr id="530" name="Google Shape;530;p18"/>
          <p:cNvSpPr/>
          <p:nvPr/>
        </p:nvSpPr>
        <p:spPr>
          <a:xfrm>
            <a:off x="822960" y="2697480"/>
            <a:ext cx="5486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8D0BC"/>
              </a:buClr>
              <a:buSzPts val="2000"/>
              <a:buFont typeface="Calibri"/>
              <a:buNone/>
            </a:pPr>
            <a:r>
              <a:rPr b="0" i="1" lang="en-US" sz="2000" u="none" cap="none" strike="noStrike">
                <a:solidFill>
                  <a:srgbClr val="D8D0BC"/>
                </a:solidFill>
                <a:latin typeface="Calibri"/>
                <a:ea typeface="Calibri"/>
                <a:cs typeface="Calibri"/>
                <a:sym typeface="Calibri"/>
              </a:rPr>
              <a:t>კითხვები?</a:t>
            </a:r>
            <a:endParaRPr b="0" i="0" sz="2000" u="none" cap="none" strike="noStrike">
              <a:solidFill>
                <a:schemeClr val="dk1"/>
              </a:solidFill>
              <a:latin typeface="Calibri"/>
              <a:ea typeface="Calibri"/>
              <a:cs typeface="Calibri"/>
              <a:sym typeface="Calibri"/>
            </a:endParaRPr>
          </a:p>
        </p:txBody>
      </p:sp>
      <p:sp>
        <p:nvSpPr>
          <p:cNvPr id="531" name="Google Shape;531;p18"/>
          <p:cNvSpPr/>
          <p:nvPr/>
        </p:nvSpPr>
        <p:spPr>
          <a:xfrm>
            <a:off x="822960" y="3429000"/>
            <a:ext cx="128016" cy="128016"/>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8"/>
          <p:cNvSpPr/>
          <p:nvPr/>
        </p:nvSpPr>
        <p:spPr>
          <a:xfrm>
            <a:off x="1143000" y="3291840"/>
            <a:ext cx="9601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300"/>
              <a:buFont typeface="Calibri"/>
              <a:buNone/>
            </a:pPr>
            <a:r>
              <a:rPr b="0" i="0" lang="en-US" sz="1300" u="none" cap="none" strike="noStrike">
                <a:solidFill>
                  <a:srgbClr val="EDE9DB"/>
                </a:solidFill>
                <a:latin typeface="Calibri"/>
                <a:ea typeface="Calibri"/>
                <a:cs typeface="Calibri"/>
                <a:sym typeface="Calibri"/>
              </a:rPr>
              <a:t>3 კლასი — Room, Customer, Hotel — მკაფიო პასუხისმგებლობებით</a:t>
            </a:r>
            <a:endParaRPr b="0" i="0" sz="1300" u="none" cap="none" strike="noStrike">
              <a:solidFill>
                <a:schemeClr val="dk1"/>
              </a:solidFill>
              <a:latin typeface="Calibri"/>
              <a:ea typeface="Calibri"/>
              <a:cs typeface="Calibri"/>
              <a:sym typeface="Calibri"/>
            </a:endParaRPr>
          </a:p>
        </p:txBody>
      </p:sp>
      <p:sp>
        <p:nvSpPr>
          <p:cNvPr id="533" name="Google Shape;533;p18"/>
          <p:cNvSpPr/>
          <p:nvPr/>
        </p:nvSpPr>
        <p:spPr>
          <a:xfrm>
            <a:off x="822960" y="3886200"/>
            <a:ext cx="128016" cy="128016"/>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a:off x="1143000" y="3749040"/>
            <a:ext cx="9601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300"/>
              <a:buFont typeface="Calibri"/>
              <a:buNone/>
            </a:pPr>
            <a:r>
              <a:rPr b="0" i="0" lang="en-US" sz="1300" u="none" cap="none" strike="noStrike">
                <a:solidFill>
                  <a:srgbClr val="EDE9DB"/>
                </a:solidFill>
                <a:latin typeface="Calibri"/>
                <a:ea typeface="Calibri"/>
                <a:cs typeface="Calibri"/>
                <a:sym typeface="Calibri"/>
              </a:rPr>
              <a:t>დინამიური ფასწარმოქმნა, ბიუჯეტის ვალიდაცია, ჯილდოს ქულები, ლოგირება</a:t>
            </a:r>
            <a:endParaRPr b="0" i="0" sz="1300" u="none" cap="none" strike="noStrike">
              <a:solidFill>
                <a:schemeClr val="dk1"/>
              </a:solidFill>
              <a:latin typeface="Calibri"/>
              <a:ea typeface="Calibri"/>
              <a:cs typeface="Calibri"/>
              <a:sym typeface="Calibri"/>
            </a:endParaRPr>
          </a:p>
        </p:txBody>
      </p:sp>
      <p:sp>
        <p:nvSpPr>
          <p:cNvPr id="535" name="Google Shape;535;p18"/>
          <p:cNvSpPr/>
          <p:nvPr/>
        </p:nvSpPr>
        <p:spPr>
          <a:xfrm>
            <a:off x="822960" y="4343400"/>
            <a:ext cx="128016" cy="128016"/>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8"/>
          <p:cNvSpPr/>
          <p:nvPr/>
        </p:nvSpPr>
        <p:spPr>
          <a:xfrm>
            <a:off x="1143000" y="4206240"/>
            <a:ext cx="9601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300"/>
              <a:buFont typeface="Calibri"/>
              <a:buNone/>
            </a:pPr>
            <a:r>
              <a:rPr b="0" i="0" lang="en-US" sz="1300" u="none" cap="none" strike="noStrike">
                <a:solidFill>
                  <a:srgbClr val="EDE9DB"/>
                </a:solidFill>
                <a:latin typeface="Calibri"/>
                <a:ea typeface="Calibri"/>
                <a:cs typeface="Calibri"/>
                <a:sym typeface="Calibri"/>
              </a:rPr>
              <a:t>11 unittest ტესტი — სრული დაფარვა ძირითად ლოგიკაზე</a:t>
            </a:r>
            <a:endParaRPr b="0" i="0" sz="1300" u="none" cap="none" strike="noStrike">
              <a:solidFill>
                <a:schemeClr val="dk1"/>
              </a:solidFill>
              <a:latin typeface="Calibri"/>
              <a:ea typeface="Calibri"/>
              <a:cs typeface="Calibri"/>
              <a:sym typeface="Calibri"/>
            </a:endParaRPr>
          </a:p>
        </p:txBody>
      </p:sp>
      <p:sp>
        <p:nvSpPr>
          <p:cNvPr id="537" name="Google Shape;537;p18"/>
          <p:cNvSpPr/>
          <p:nvPr/>
        </p:nvSpPr>
        <p:spPr>
          <a:xfrm>
            <a:off x="822960" y="4800600"/>
            <a:ext cx="128016" cy="128016"/>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8"/>
          <p:cNvSpPr/>
          <p:nvPr/>
        </p:nvSpPr>
        <p:spPr>
          <a:xfrm>
            <a:off x="1143000" y="4663440"/>
            <a:ext cx="9601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300"/>
              <a:buFont typeface="Calibri"/>
              <a:buNone/>
            </a:pPr>
            <a:r>
              <a:rPr b="0" i="0" lang="en-US" sz="1300" u="none" cap="none" strike="noStrike">
                <a:solidFill>
                  <a:srgbClr val="EDE9DB"/>
                </a:solidFill>
                <a:latin typeface="Calibri"/>
                <a:ea typeface="Calibri"/>
                <a:cs typeface="Calibri"/>
                <a:sym typeface="Calibri"/>
              </a:rPr>
              <a:t>სემანტიკური HTML/CSS Front-End საერთო ვიზუალით</a:t>
            </a:r>
            <a:endParaRPr b="0" i="0" sz="1300" u="none" cap="none" strike="noStrike">
              <a:solidFill>
                <a:schemeClr val="dk1"/>
              </a:solidFill>
              <a:latin typeface="Calibri"/>
              <a:ea typeface="Calibri"/>
              <a:cs typeface="Calibri"/>
              <a:sym typeface="Calibri"/>
            </a:endParaRPr>
          </a:p>
        </p:txBody>
      </p:sp>
      <p:sp>
        <p:nvSpPr>
          <p:cNvPr id="539" name="Google Shape;539;p18"/>
          <p:cNvSpPr/>
          <p:nvPr/>
        </p:nvSpPr>
        <p:spPr>
          <a:xfrm>
            <a:off x="822960" y="5257800"/>
            <a:ext cx="128016" cy="128016"/>
          </a:xfrm>
          <a:prstGeom prst="ellipse">
            <a:avLst/>
          </a:prstGeom>
          <a:solidFill>
            <a:srgbClr val="C9A1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8"/>
          <p:cNvSpPr/>
          <p:nvPr/>
        </p:nvSpPr>
        <p:spPr>
          <a:xfrm>
            <a:off x="1143000" y="5120640"/>
            <a:ext cx="9601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9DB"/>
              </a:buClr>
              <a:buSzPts val="1300"/>
              <a:buFont typeface="Calibri"/>
              <a:buNone/>
            </a:pPr>
            <a:r>
              <a:rPr b="0" i="0" lang="en-US" sz="1300" u="none" cap="none" strike="noStrike">
                <a:solidFill>
                  <a:srgbClr val="EDE9DB"/>
                </a:solidFill>
                <a:latin typeface="Calibri"/>
                <a:ea typeface="Calibri"/>
                <a:cs typeface="Calibri"/>
                <a:sym typeface="Calibri"/>
              </a:rPr>
              <a:t>მზად არის GitHub-ზე ასატვირთად — README, .gitignore, სუფთა სტრუქტურა</a:t>
            </a:r>
            <a:endParaRPr b="0" i="0" sz="1300" u="none" cap="none" strike="noStrike">
              <a:solidFill>
                <a:schemeClr val="dk1"/>
              </a:solidFill>
              <a:latin typeface="Calibri"/>
              <a:ea typeface="Calibri"/>
              <a:cs typeface="Calibri"/>
              <a:sym typeface="Calibri"/>
            </a:endParaRPr>
          </a:p>
        </p:txBody>
      </p:sp>
      <p:sp>
        <p:nvSpPr>
          <p:cNvPr id="541" name="Google Shape;541;p18"/>
          <p:cNvSpPr/>
          <p:nvPr/>
        </p:nvSpPr>
        <p:spPr>
          <a:xfrm>
            <a:off x="822960" y="6263640"/>
            <a:ext cx="10058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846E"/>
              </a:buClr>
              <a:buSzPts val="1100"/>
              <a:buFont typeface="Calibri"/>
              <a:buNone/>
            </a:pPr>
            <a:r>
              <a:rPr b="0" i="0" lang="en-US" sz="1100" u="none" cap="none" strike="noStrike">
                <a:solidFill>
                  <a:srgbClr val="8A846E"/>
                </a:solidFill>
                <a:latin typeface="Calibri"/>
                <a:ea typeface="Calibri"/>
                <a:cs typeface="Calibri"/>
                <a:sym typeface="Calibri"/>
              </a:rPr>
              <a:t>Tbilisi Grand Hotel — Booking Agency  |  ფინალური პროექტი, </a:t>
            </a:r>
            <a:r>
              <a:rPr b="0" i="0" lang="en-US" sz="1100" u="none" cap="none" strike="noStrike">
                <a:solidFill>
                  <a:srgbClr val="8A846E"/>
                </a:solidFill>
                <a:latin typeface="Calibri"/>
                <a:ea typeface="Calibri"/>
                <a:cs typeface="Calibri"/>
                <a:sym typeface="Calibri"/>
              </a:rPr>
              <a:t>Python </a:t>
            </a:r>
            <a:r>
              <a:rPr b="0" i="0" lang="en-US" sz="1100" u="none" cap="none" strike="noStrike">
                <a:solidFill>
                  <a:srgbClr val="8A846E"/>
                </a:solidFill>
                <a:latin typeface="Calibri"/>
                <a:ea typeface="Calibri"/>
                <a:cs typeface="Calibri"/>
                <a:sym typeface="Calibri"/>
              </a:rPr>
              <a:t>კურსი</a:t>
            </a:r>
            <a:endParaRPr b="0" i="0" sz="1100" u="none" cap="none" strike="noStrike">
              <a:solidFill>
                <a:schemeClr val="dk1"/>
              </a:solidFill>
              <a:latin typeface="Calibri"/>
              <a:ea typeface="Calibri"/>
              <a:cs typeface="Calibri"/>
              <a:sym typeface="Calibri"/>
            </a:endParaRPr>
          </a:p>
        </p:txBody>
      </p:sp>
      <p:sp>
        <p:nvSpPr>
          <p:cNvPr id="542" name="Google Shape;542;p18"/>
          <p:cNvSpPr/>
          <p:nvPr/>
        </p:nvSpPr>
        <p:spPr>
          <a:xfrm>
            <a:off x="11567160" y="6446520"/>
            <a:ext cx="457200"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665A"/>
              </a:buClr>
              <a:buSzPts val="1000"/>
              <a:buFont typeface="Calibri"/>
              <a:buNone/>
            </a:pPr>
            <a:r>
              <a:rPr b="0" i="0" lang="en-US" sz="1000" u="none" cap="none" strike="noStrike">
                <a:solidFill>
                  <a:srgbClr val="6B665A"/>
                </a:solidFill>
                <a:latin typeface="Calibri"/>
                <a:ea typeface="Calibri"/>
                <a:cs typeface="Calibri"/>
                <a:sym typeface="Calibri"/>
              </a:rPr>
              <a:t>18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2026-07-16T18:33:51Z</dcterms:created>
  <dc:creator>PptxGenJS</dc:creator>
</cp:coreProperties>
</file>